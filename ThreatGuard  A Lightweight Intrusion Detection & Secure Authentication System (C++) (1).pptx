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Some Time Later" charset="1" panose="02000503000000000000"/>
      <p:regular r:id="rId16"/>
    </p:embeddedFont>
    <p:embeddedFont>
      <p:font typeface="Canva Sans Bold" charset="1" panose="020B0803030501040103"/>
      <p:regular r:id="rId17"/>
    </p:embeddedFont>
    <p:embeddedFont>
      <p:font typeface="Canva Sans" charset="1" panose="020B0503030501040103"/>
      <p:regular r:id="rId18"/>
    </p:embeddedFont>
    <p:embeddedFont>
      <p:font typeface="Dekko"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14" Target="../media/image16.png" Type="http://schemas.openxmlformats.org/officeDocument/2006/relationships/image"/><Relationship Id="rId15" Target="../media/image17.svg" Type="http://schemas.openxmlformats.org/officeDocument/2006/relationships/image"/><Relationship Id="rId16"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3.png" Type="http://schemas.openxmlformats.org/officeDocument/2006/relationships/image"/><Relationship Id="rId12" Target="../media/image2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3.png" Type="http://schemas.openxmlformats.org/officeDocument/2006/relationships/image"/><Relationship Id="rId12"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25.png" Type="http://schemas.openxmlformats.org/officeDocument/2006/relationships/image"/><Relationship Id="rId12" Target="../media/image26.png" Type="http://schemas.openxmlformats.org/officeDocument/2006/relationships/image"/><Relationship Id="rId2" Target="../media/image5.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3.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27.pn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28.pn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3.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16" Target="../media/image31.png" Type="http://schemas.openxmlformats.org/officeDocument/2006/relationships/image"/><Relationship Id="rId17" Target="../media/image32.svg" Type="http://schemas.openxmlformats.org/officeDocument/2006/relationships/image"/><Relationship Id="rId18"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8.png" Type="http://schemas.openxmlformats.org/officeDocument/2006/relationships/image"/><Relationship Id="rId8"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8532091" y="8020121"/>
            <a:ext cx="3274596" cy="4096946"/>
          </a:xfrm>
          <a:custGeom>
            <a:avLst/>
            <a:gdLst/>
            <a:ahLst/>
            <a:cxnLst/>
            <a:rect r="r" b="b" t="t" l="l"/>
            <a:pathLst>
              <a:path h="4096946" w="3274596">
                <a:moveTo>
                  <a:pt x="0" y="0"/>
                </a:moveTo>
                <a:lnTo>
                  <a:pt x="3274596" y="0"/>
                </a:lnTo>
                <a:lnTo>
                  <a:pt x="3274596" y="4096946"/>
                </a:lnTo>
                <a:lnTo>
                  <a:pt x="0" y="40969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00671" y="7896714"/>
            <a:ext cx="2865433" cy="2662248"/>
          </a:xfrm>
          <a:custGeom>
            <a:avLst/>
            <a:gdLst/>
            <a:ahLst/>
            <a:cxnLst/>
            <a:rect r="r" b="b" t="t" l="l"/>
            <a:pathLst>
              <a:path h="2662248" w="2865433">
                <a:moveTo>
                  <a:pt x="0" y="0"/>
                </a:moveTo>
                <a:lnTo>
                  <a:pt x="2865433" y="0"/>
                </a:lnTo>
                <a:lnTo>
                  <a:pt x="2865433" y="2662248"/>
                </a:lnTo>
                <a:lnTo>
                  <a:pt x="0" y="26622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82606" y="7790235"/>
            <a:ext cx="4372163" cy="3169818"/>
          </a:xfrm>
          <a:custGeom>
            <a:avLst/>
            <a:gdLst/>
            <a:ahLst/>
            <a:cxnLst/>
            <a:rect r="r" b="b" t="t" l="l"/>
            <a:pathLst>
              <a:path h="3169818" w="4372163">
                <a:moveTo>
                  <a:pt x="0" y="0"/>
                </a:moveTo>
                <a:lnTo>
                  <a:pt x="4372163" y="0"/>
                </a:lnTo>
                <a:lnTo>
                  <a:pt x="4372163" y="3169818"/>
                </a:lnTo>
                <a:lnTo>
                  <a:pt x="0" y="3169818"/>
                </a:lnTo>
                <a:lnTo>
                  <a:pt x="0" y="0"/>
                </a:lnTo>
                <a:close/>
              </a:path>
            </a:pathLst>
          </a:custGeom>
          <a:blipFill>
            <a:blip r:embed="rId6"/>
            <a:stretch>
              <a:fillRect l="0" t="0" r="0" b="0"/>
            </a:stretch>
          </a:blipFill>
        </p:spPr>
      </p:sp>
      <p:sp>
        <p:nvSpPr>
          <p:cNvPr name="Freeform 5" id="5"/>
          <p:cNvSpPr/>
          <p:nvPr/>
        </p:nvSpPr>
        <p:spPr>
          <a:xfrm flipH="false" flipV="false" rot="0">
            <a:off x="7878428" y="-279152"/>
            <a:ext cx="2965019" cy="2242633"/>
          </a:xfrm>
          <a:custGeom>
            <a:avLst/>
            <a:gdLst/>
            <a:ahLst/>
            <a:cxnLst/>
            <a:rect r="r" b="b" t="t" l="l"/>
            <a:pathLst>
              <a:path h="2242633" w="2965019">
                <a:moveTo>
                  <a:pt x="0" y="0"/>
                </a:moveTo>
                <a:lnTo>
                  <a:pt x="2965019" y="0"/>
                </a:lnTo>
                <a:lnTo>
                  <a:pt x="2965019" y="2242632"/>
                </a:lnTo>
                <a:lnTo>
                  <a:pt x="0" y="22426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625754" y="-297811"/>
            <a:ext cx="4175641" cy="3029238"/>
          </a:xfrm>
          <a:custGeom>
            <a:avLst/>
            <a:gdLst/>
            <a:ahLst/>
            <a:cxnLst/>
            <a:rect r="r" b="b" t="t" l="l"/>
            <a:pathLst>
              <a:path h="3029238" w="4175641">
                <a:moveTo>
                  <a:pt x="0" y="0"/>
                </a:moveTo>
                <a:lnTo>
                  <a:pt x="4175641" y="0"/>
                </a:lnTo>
                <a:lnTo>
                  <a:pt x="4175641" y="3029238"/>
                </a:lnTo>
                <a:lnTo>
                  <a:pt x="0" y="3029238"/>
                </a:lnTo>
                <a:lnTo>
                  <a:pt x="0" y="0"/>
                </a:lnTo>
                <a:close/>
              </a:path>
            </a:pathLst>
          </a:custGeom>
          <a:blipFill>
            <a:blip r:embed="rId9"/>
            <a:stretch>
              <a:fillRect l="0" t="0" r="0" b="0"/>
            </a:stretch>
          </a:blipFill>
        </p:spPr>
      </p:sp>
      <p:sp>
        <p:nvSpPr>
          <p:cNvPr name="Freeform 7" id="7"/>
          <p:cNvSpPr/>
          <p:nvPr/>
        </p:nvSpPr>
        <p:spPr>
          <a:xfrm flipH="false" flipV="false" rot="0">
            <a:off x="16138294" y="3650965"/>
            <a:ext cx="2079347" cy="1776897"/>
          </a:xfrm>
          <a:custGeom>
            <a:avLst/>
            <a:gdLst/>
            <a:ahLst/>
            <a:cxnLst/>
            <a:rect r="r" b="b" t="t" l="l"/>
            <a:pathLst>
              <a:path h="1776897" w="2079347">
                <a:moveTo>
                  <a:pt x="0" y="0"/>
                </a:moveTo>
                <a:lnTo>
                  <a:pt x="2079347" y="0"/>
                </a:lnTo>
                <a:lnTo>
                  <a:pt x="2079347" y="1776896"/>
                </a:lnTo>
                <a:lnTo>
                  <a:pt x="0" y="17768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95845" y="4564752"/>
            <a:ext cx="1424262" cy="1416493"/>
          </a:xfrm>
          <a:custGeom>
            <a:avLst/>
            <a:gdLst/>
            <a:ahLst/>
            <a:cxnLst/>
            <a:rect r="r" b="b" t="t" l="l"/>
            <a:pathLst>
              <a:path h="1416493" w="1424262">
                <a:moveTo>
                  <a:pt x="0" y="0"/>
                </a:moveTo>
                <a:lnTo>
                  <a:pt x="1424262" y="0"/>
                </a:lnTo>
                <a:lnTo>
                  <a:pt x="1424262" y="1416493"/>
                </a:lnTo>
                <a:lnTo>
                  <a:pt x="0" y="14164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3402607" y="3099674"/>
            <a:ext cx="11482787" cy="1658203"/>
          </a:xfrm>
          <a:prstGeom prst="rect">
            <a:avLst/>
          </a:prstGeom>
        </p:spPr>
        <p:txBody>
          <a:bodyPr anchor="t" rtlCol="false" tIns="0" lIns="0" bIns="0" rIns="0">
            <a:spAutoFit/>
          </a:bodyPr>
          <a:lstStyle/>
          <a:p>
            <a:pPr algn="ctr">
              <a:lnSpc>
                <a:spcPts val="4140"/>
              </a:lnSpc>
            </a:pPr>
            <a:r>
              <a:rPr lang="en-US" sz="4268">
                <a:solidFill>
                  <a:srgbClr val="1A513F"/>
                </a:solidFill>
                <a:latin typeface="Some Time Later"/>
                <a:ea typeface="Some Time Later"/>
                <a:cs typeface="Some Time Later"/>
                <a:sym typeface="Some Time Later"/>
              </a:rPr>
              <a:t>ThreatGuard : A Lightweight Intrusion Detection &amp; </a:t>
            </a:r>
          </a:p>
          <a:p>
            <a:pPr algn="ctr">
              <a:lnSpc>
                <a:spcPts val="4140"/>
              </a:lnSpc>
            </a:pPr>
            <a:r>
              <a:rPr lang="en-US" sz="4268">
                <a:solidFill>
                  <a:srgbClr val="1A513F"/>
                </a:solidFill>
                <a:latin typeface="Some Time Later"/>
                <a:ea typeface="Some Time Later"/>
                <a:cs typeface="Some Time Later"/>
                <a:sym typeface="Some Time Later"/>
              </a:rPr>
              <a:t>Secure Authentication System (C++)</a:t>
            </a:r>
          </a:p>
        </p:txBody>
      </p:sp>
      <p:sp>
        <p:nvSpPr>
          <p:cNvPr name="TextBox 10" id="10"/>
          <p:cNvSpPr txBox="true"/>
          <p:nvPr/>
        </p:nvSpPr>
        <p:spPr>
          <a:xfrm rot="0">
            <a:off x="975256" y="5076825"/>
            <a:ext cx="7652280" cy="3469005"/>
          </a:xfrm>
          <a:prstGeom prst="rect">
            <a:avLst/>
          </a:prstGeom>
        </p:spPr>
        <p:txBody>
          <a:bodyPr anchor="t" rtlCol="false" tIns="0" lIns="0" bIns="0" rIns="0">
            <a:spAutoFit/>
          </a:bodyPr>
          <a:lstStyle/>
          <a:p>
            <a:pPr algn="ctr">
              <a:lnSpc>
                <a:spcPts val="4620"/>
              </a:lnSpc>
            </a:pPr>
            <a:r>
              <a:rPr lang="en-US" b="true" sz="3300" spc="36">
                <a:solidFill>
                  <a:srgbClr val="1A513F"/>
                </a:solidFill>
                <a:latin typeface="Canva Sans Bold"/>
                <a:ea typeface="Canva Sans Bold"/>
                <a:cs typeface="Canva Sans Bold"/>
                <a:sym typeface="Canva Sans Bold"/>
              </a:rPr>
              <a:t>Presented By:</a:t>
            </a:r>
          </a:p>
          <a:p>
            <a:pPr algn="ctr">
              <a:lnSpc>
                <a:spcPts val="4620"/>
              </a:lnSpc>
            </a:pPr>
            <a:r>
              <a:rPr lang="en-US" b="true" sz="3300" spc="36">
                <a:solidFill>
                  <a:srgbClr val="1A513F"/>
                </a:solidFill>
                <a:latin typeface="Canva Sans Bold"/>
                <a:ea typeface="Canva Sans Bold"/>
                <a:cs typeface="Canva Sans Bold"/>
                <a:sym typeface="Canva Sans Bold"/>
              </a:rPr>
              <a:t>MD Iftiur Hossen Riyad(2404011)</a:t>
            </a:r>
          </a:p>
          <a:p>
            <a:pPr algn="ctr">
              <a:lnSpc>
                <a:spcPts val="4620"/>
              </a:lnSpc>
            </a:pPr>
            <a:r>
              <a:rPr lang="en-US" b="true" sz="3300" spc="36">
                <a:solidFill>
                  <a:srgbClr val="1A513F"/>
                </a:solidFill>
                <a:latin typeface="Canva Sans Bold"/>
                <a:ea typeface="Canva Sans Bold"/>
                <a:cs typeface="Canva Sans Bold"/>
                <a:sym typeface="Canva Sans Bold"/>
              </a:rPr>
              <a:t>Momtasin Tamanna(2404012)</a:t>
            </a:r>
          </a:p>
          <a:p>
            <a:pPr algn="ctr">
              <a:lnSpc>
                <a:spcPts val="4620"/>
              </a:lnSpc>
            </a:pPr>
          </a:p>
          <a:p>
            <a:pPr algn="ctr">
              <a:lnSpc>
                <a:spcPts val="4620"/>
              </a:lnSpc>
            </a:pPr>
          </a:p>
          <a:p>
            <a:pPr algn="ctr">
              <a:lnSpc>
                <a:spcPts val="4620"/>
              </a:lnSpc>
            </a:pPr>
          </a:p>
        </p:txBody>
      </p:sp>
      <p:sp>
        <p:nvSpPr>
          <p:cNvPr name="Freeform 11" id="11"/>
          <p:cNvSpPr/>
          <p:nvPr/>
        </p:nvSpPr>
        <p:spPr>
          <a:xfrm flipH="false" flipV="false" rot="0">
            <a:off x="15447101" y="42263"/>
            <a:ext cx="2840899" cy="2833797"/>
          </a:xfrm>
          <a:custGeom>
            <a:avLst/>
            <a:gdLst/>
            <a:ahLst/>
            <a:cxnLst/>
            <a:rect r="r" b="b" t="t" l="l"/>
            <a:pathLst>
              <a:path h="2833797" w="2840899">
                <a:moveTo>
                  <a:pt x="0" y="0"/>
                </a:moveTo>
                <a:lnTo>
                  <a:pt x="2840899" y="0"/>
                </a:lnTo>
                <a:lnTo>
                  <a:pt x="2840899" y="2833797"/>
                </a:lnTo>
                <a:lnTo>
                  <a:pt x="0" y="2833797"/>
                </a:lnTo>
                <a:lnTo>
                  <a:pt x="0" y="0"/>
                </a:lnTo>
                <a:close/>
              </a:path>
            </a:pathLst>
          </a:custGeom>
          <a:blipFill>
            <a:blip r:embed="rId14"/>
            <a:stretch>
              <a:fillRect l="0" t="0" r="0" b="0"/>
            </a:stretch>
          </a:blipFill>
        </p:spPr>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name="TextBox 13" id="13"/>
          <p:cNvSpPr txBox="true"/>
          <p:nvPr/>
        </p:nvSpPr>
        <p:spPr>
          <a:xfrm rot="0">
            <a:off x="7878428" y="5076825"/>
            <a:ext cx="11720795" cy="2306955"/>
          </a:xfrm>
          <a:prstGeom prst="rect">
            <a:avLst/>
          </a:prstGeom>
        </p:spPr>
        <p:txBody>
          <a:bodyPr anchor="t" rtlCol="false" tIns="0" lIns="0" bIns="0" rIns="0">
            <a:spAutoFit/>
          </a:bodyPr>
          <a:lstStyle/>
          <a:p>
            <a:pPr algn="ctr">
              <a:lnSpc>
                <a:spcPts val="4620"/>
              </a:lnSpc>
            </a:pPr>
            <a:r>
              <a:rPr lang="en-US" sz="3300" b="true">
                <a:solidFill>
                  <a:srgbClr val="1A513F"/>
                </a:solidFill>
                <a:latin typeface="Canva Sans Bold"/>
                <a:ea typeface="Canva Sans Bold"/>
                <a:cs typeface="Canva Sans Bold"/>
                <a:sym typeface="Canva Sans Bold"/>
              </a:rPr>
              <a:t>Presented to:</a:t>
            </a:r>
          </a:p>
          <a:p>
            <a:pPr algn="ctr">
              <a:lnSpc>
                <a:spcPts val="4620"/>
              </a:lnSpc>
            </a:pPr>
            <a:r>
              <a:rPr lang="en-US" sz="3300" b="true">
                <a:solidFill>
                  <a:srgbClr val="1A513F"/>
                </a:solidFill>
                <a:latin typeface="Canva Sans Bold"/>
                <a:ea typeface="Canva Sans Bold"/>
                <a:cs typeface="Canva Sans Bold"/>
                <a:sym typeface="Canva Sans Bold"/>
              </a:rPr>
              <a:t>Md Masud Rana</a:t>
            </a:r>
          </a:p>
          <a:p>
            <a:pPr algn="ctr">
              <a:lnSpc>
                <a:spcPts val="4620"/>
              </a:lnSpc>
            </a:pPr>
            <a:r>
              <a:rPr lang="en-US" sz="3300" b="true">
                <a:solidFill>
                  <a:srgbClr val="1A513F"/>
                </a:solidFill>
                <a:latin typeface="Canva Sans Bold"/>
                <a:ea typeface="Canva Sans Bold"/>
                <a:cs typeface="Canva Sans Bold"/>
                <a:sym typeface="Canva Sans Bold"/>
              </a:rPr>
              <a:t>Lecturer, Department Of Cyber Security Engineering,UFTB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8397174" y="8362114"/>
            <a:ext cx="2435784" cy="3047483"/>
          </a:xfrm>
          <a:custGeom>
            <a:avLst/>
            <a:gdLst/>
            <a:ahLst/>
            <a:cxnLst/>
            <a:rect r="r" b="b" t="t" l="l"/>
            <a:pathLst>
              <a:path h="3047483" w="2435784">
                <a:moveTo>
                  <a:pt x="0" y="0"/>
                </a:moveTo>
                <a:lnTo>
                  <a:pt x="2435785" y="0"/>
                </a:lnTo>
                <a:lnTo>
                  <a:pt x="2435785" y="3047483"/>
                </a:lnTo>
                <a:lnTo>
                  <a:pt x="0" y="30474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14926" y="7462284"/>
            <a:ext cx="3177256" cy="2951960"/>
          </a:xfrm>
          <a:custGeom>
            <a:avLst/>
            <a:gdLst/>
            <a:ahLst/>
            <a:cxnLst/>
            <a:rect r="r" b="b" t="t" l="l"/>
            <a:pathLst>
              <a:path h="2951960" w="3177256">
                <a:moveTo>
                  <a:pt x="0" y="0"/>
                </a:moveTo>
                <a:lnTo>
                  <a:pt x="3177256" y="0"/>
                </a:lnTo>
                <a:lnTo>
                  <a:pt x="3177256" y="2951960"/>
                </a:lnTo>
                <a:lnTo>
                  <a:pt x="0" y="2951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58686" y="7657458"/>
            <a:ext cx="4492975" cy="3257407"/>
          </a:xfrm>
          <a:custGeom>
            <a:avLst/>
            <a:gdLst/>
            <a:ahLst/>
            <a:cxnLst/>
            <a:rect r="r" b="b" t="t" l="l"/>
            <a:pathLst>
              <a:path h="3257407" w="4492975">
                <a:moveTo>
                  <a:pt x="0" y="0"/>
                </a:moveTo>
                <a:lnTo>
                  <a:pt x="4492976" y="0"/>
                </a:lnTo>
                <a:lnTo>
                  <a:pt x="4492976" y="3257406"/>
                </a:lnTo>
                <a:lnTo>
                  <a:pt x="0" y="3257406"/>
                </a:lnTo>
                <a:lnTo>
                  <a:pt x="0" y="0"/>
                </a:lnTo>
                <a:close/>
              </a:path>
            </a:pathLst>
          </a:custGeom>
          <a:blipFill>
            <a:blip r:embed="rId6"/>
            <a:stretch>
              <a:fillRect l="0" t="0" r="0" b="0"/>
            </a:stretch>
          </a:blipFill>
        </p:spPr>
      </p:sp>
      <p:sp>
        <p:nvSpPr>
          <p:cNvPr name="Freeform 5" id="5"/>
          <p:cNvSpPr/>
          <p:nvPr/>
        </p:nvSpPr>
        <p:spPr>
          <a:xfrm flipH="false" flipV="false" rot="0">
            <a:off x="8978598" y="-685597"/>
            <a:ext cx="2257985" cy="1707858"/>
          </a:xfrm>
          <a:custGeom>
            <a:avLst/>
            <a:gdLst/>
            <a:ahLst/>
            <a:cxnLst/>
            <a:rect r="r" b="b" t="t" l="l"/>
            <a:pathLst>
              <a:path h="1707858" w="2257985">
                <a:moveTo>
                  <a:pt x="0" y="0"/>
                </a:moveTo>
                <a:lnTo>
                  <a:pt x="2257984" y="0"/>
                </a:lnTo>
                <a:lnTo>
                  <a:pt x="2257984" y="1707857"/>
                </a:lnTo>
                <a:lnTo>
                  <a:pt x="0" y="17078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4823" y="-901402"/>
            <a:ext cx="4812691" cy="3491389"/>
          </a:xfrm>
          <a:custGeom>
            <a:avLst/>
            <a:gdLst/>
            <a:ahLst/>
            <a:cxnLst/>
            <a:rect r="r" b="b" t="t" l="l"/>
            <a:pathLst>
              <a:path h="3491389" w="4812691">
                <a:moveTo>
                  <a:pt x="0" y="0"/>
                </a:moveTo>
                <a:lnTo>
                  <a:pt x="4812691" y="0"/>
                </a:lnTo>
                <a:lnTo>
                  <a:pt x="4812691" y="3491389"/>
                </a:lnTo>
                <a:lnTo>
                  <a:pt x="0" y="3491389"/>
                </a:lnTo>
                <a:lnTo>
                  <a:pt x="0" y="0"/>
                </a:lnTo>
                <a:close/>
              </a:path>
            </a:pathLst>
          </a:custGeom>
          <a:blipFill>
            <a:blip r:embed="rId9"/>
            <a:stretch>
              <a:fillRect l="0" t="0" r="0" b="0"/>
            </a:stretch>
          </a:blipFill>
        </p:spPr>
      </p:sp>
      <p:sp>
        <p:nvSpPr>
          <p:cNvPr name="Freeform 7" id="7"/>
          <p:cNvSpPr/>
          <p:nvPr/>
        </p:nvSpPr>
        <p:spPr>
          <a:xfrm flipH="false" flipV="false" rot="0">
            <a:off x="16906477" y="4261739"/>
            <a:ext cx="2063695" cy="1763521"/>
          </a:xfrm>
          <a:custGeom>
            <a:avLst/>
            <a:gdLst/>
            <a:ahLst/>
            <a:cxnLst/>
            <a:rect r="r" b="b" t="t" l="l"/>
            <a:pathLst>
              <a:path h="1763521" w="2063695">
                <a:moveTo>
                  <a:pt x="0" y="0"/>
                </a:moveTo>
                <a:lnTo>
                  <a:pt x="2063695" y="0"/>
                </a:lnTo>
                <a:lnTo>
                  <a:pt x="2063695" y="1763522"/>
                </a:lnTo>
                <a:lnTo>
                  <a:pt x="0" y="17635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30594" y="397215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1461523" y="2856477"/>
            <a:ext cx="4275117" cy="4114800"/>
          </a:xfrm>
          <a:custGeom>
            <a:avLst/>
            <a:gdLst/>
            <a:ahLst/>
            <a:cxnLst/>
            <a:rect r="r" b="b" t="t" l="l"/>
            <a:pathLst>
              <a:path h="4114800" w="4275117">
                <a:moveTo>
                  <a:pt x="0" y="0"/>
                </a:moveTo>
                <a:lnTo>
                  <a:pt x="4275117" y="0"/>
                </a:lnTo>
                <a:lnTo>
                  <a:pt x="4275117"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3174738" y="2730441"/>
            <a:ext cx="7681183" cy="5596304"/>
          </a:xfrm>
          <a:prstGeom prst="rect">
            <a:avLst/>
          </a:prstGeom>
        </p:spPr>
        <p:txBody>
          <a:bodyPr anchor="t" rtlCol="false" tIns="0" lIns="0" bIns="0" rIns="0">
            <a:spAutoFit/>
          </a:bodyPr>
          <a:lstStyle/>
          <a:p>
            <a:pPr algn="l">
              <a:lnSpc>
                <a:spcPts val="4442"/>
              </a:lnSpc>
            </a:pPr>
            <a:r>
              <a:rPr lang="en-US" sz="3173" spc="34">
                <a:solidFill>
                  <a:srgbClr val="000500"/>
                </a:solidFill>
                <a:latin typeface="Dekko"/>
                <a:ea typeface="Dekko"/>
                <a:cs typeface="Dekko"/>
                <a:sym typeface="Dekko"/>
              </a:rPr>
              <a:t>ThreatGuard is a lightweight Intrusion Detection and Secure Authentication System developed using C++. It provides secure user registration, login authentication, password validation, password hashing, and activity logging. The system also detects suspicious login attempts and helps improve overall security. Its main goal is to demonstrate basic cybersecurity concepts in a simple and effective way.</a:t>
            </a:r>
          </a:p>
        </p:txBody>
      </p:sp>
      <p:sp>
        <p:nvSpPr>
          <p:cNvPr name="TextBox 11" id="11"/>
          <p:cNvSpPr txBox="true"/>
          <p:nvPr/>
        </p:nvSpPr>
        <p:spPr>
          <a:xfrm rot="0">
            <a:off x="3279662" y="1556466"/>
            <a:ext cx="6545941" cy="961999"/>
          </a:xfrm>
          <a:prstGeom prst="rect">
            <a:avLst/>
          </a:prstGeom>
        </p:spPr>
        <p:txBody>
          <a:bodyPr anchor="t" rtlCol="false" tIns="0" lIns="0" bIns="0" rIns="0">
            <a:spAutoFit/>
          </a:bodyPr>
          <a:lstStyle/>
          <a:p>
            <a:pPr algn="l">
              <a:lnSpc>
                <a:spcPts val="6641"/>
              </a:lnSpc>
            </a:pPr>
            <a:r>
              <a:rPr lang="en-US" sz="6846">
                <a:solidFill>
                  <a:srgbClr val="1A513F"/>
                </a:solidFill>
                <a:latin typeface="Some Time Later"/>
                <a:ea typeface="Some Time Later"/>
                <a:cs typeface="Some Time Later"/>
                <a:sym typeface="Some Time Later"/>
              </a:rPr>
              <a:t>   introduction</a:t>
            </a:r>
          </a:p>
        </p:txBody>
      </p:sp>
      <p:sp>
        <p:nvSpPr>
          <p:cNvPr name="Freeform 12" id="12"/>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6"/>
            <a:stretch>
              <a:fillRect l="0" t="0" r="0" b="0"/>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267865" y="8519439"/>
            <a:ext cx="2383880" cy="2214841"/>
          </a:xfrm>
          <a:custGeom>
            <a:avLst/>
            <a:gdLst/>
            <a:ahLst/>
            <a:cxnLst/>
            <a:rect r="r" b="b" t="t" l="l"/>
            <a:pathLst>
              <a:path h="2214841" w="2383880">
                <a:moveTo>
                  <a:pt x="0" y="0"/>
                </a:moveTo>
                <a:lnTo>
                  <a:pt x="2383880" y="0"/>
                </a:lnTo>
                <a:lnTo>
                  <a:pt x="2383880" y="2214841"/>
                </a:lnTo>
                <a:lnTo>
                  <a:pt x="0" y="2214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95705" y="8744672"/>
            <a:ext cx="2292295" cy="1767151"/>
          </a:xfrm>
          <a:custGeom>
            <a:avLst/>
            <a:gdLst/>
            <a:ahLst/>
            <a:cxnLst/>
            <a:rect r="r" b="b" t="t" l="l"/>
            <a:pathLst>
              <a:path h="1767151" w="2292295">
                <a:moveTo>
                  <a:pt x="0" y="0"/>
                </a:moveTo>
                <a:lnTo>
                  <a:pt x="2292295" y="0"/>
                </a:lnTo>
                <a:lnTo>
                  <a:pt x="2292295" y="1767151"/>
                </a:lnTo>
                <a:lnTo>
                  <a:pt x="0" y="17671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34942" y="-679158"/>
            <a:ext cx="2257985" cy="1707858"/>
          </a:xfrm>
          <a:custGeom>
            <a:avLst/>
            <a:gdLst/>
            <a:ahLst/>
            <a:cxnLst/>
            <a:rect r="r" b="b" t="t" l="l"/>
            <a:pathLst>
              <a:path h="1707858" w="2257985">
                <a:moveTo>
                  <a:pt x="0" y="0"/>
                </a:moveTo>
                <a:lnTo>
                  <a:pt x="2257985" y="0"/>
                </a:lnTo>
                <a:lnTo>
                  <a:pt x="2257985" y="1707858"/>
                </a:lnTo>
                <a:lnTo>
                  <a:pt x="0" y="17078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6994" y="-1173712"/>
            <a:ext cx="4812691" cy="3491389"/>
          </a:xfrm>
          <a:custGeom>
            <a:avLst/>
            <a:gdLst/>
            <a:ahLst/>
            <a:cxnLst/>
            <a:rect r="r" b="b" t="t" l="l"/>
            <a:pathLst>
              <a:path h="3491389" w="4812691">
                <a:moveTo>
                  <a:pt x="0" y="0"/>
                </a:moveTo>
                <a:lnTo>
                  <a:pt x="4812691" y="0"/>
                </a:lnTo>
                <a:lnTo>
                  <a:pt x="4812691" y="3491389"/>
                </a:lnTo>
                <a:lnTo>
                  <a:pt x="0" y="3491389"/>
                </a:lnTo>
                <a:lnTo>
                  <a:pt x="0" y="0"/>
                </a:lnTo>
                <a:close/>
              </a:path>
            </a:pathLst>
          </a:custGeom>
          <a:blipFill>
            <a:blip r:embed="rId8"/>
            <a:stretch>
              <a:fillRect l="0" t="0" r="0" b="0"/>
            </a:stretch>
          </a:blipFill>
        </p:spPr>
      </p:sp>
      <p:sp>
        <p:nvSpPr>
          <p:cNvPr name="Freeform 6" id="6"/>
          <p:cNvSpPr/>
          <p:nvPr/>
        </p:nvSpPr>
        <p:spPr>
          <a:xfrm flipH="false" flipV="false" rot="0">
            <a:off x="-330594" y="397215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1"/>
            <a:stretch>
              <a:fillRect l="0" t="0" r="0" b="0"/>
            </a:stretch>
          </a:blipFill>
        </p:spPr>
      </p:sp>
      <p:sp>
        <p:nvSpPr>
          <p:cNvPr name="Freeform 8" id="8"/>
          <p:cNvSpPr/>
          <p:nvPr/>
        </p:nvSpPr>
        <p:spPr>
          <a:xfrm flipH="false" flipV="false" rot="0">
            <a:off x="1458267" y="3153763"/>
            <a:ext cx="7917077" cy="1378979"/>
          </a:xfrm>
          <a:custGeom>
            <a:avLst/>
            <a:gdLst/>
            <a:ahLst/>
            <a:cxnLst/>
            <a:rect r="r" b="b" t="t" l="l"/>
            <a:pathLst>
              <a:path h="1378979" w="7917077">
                <a:moveTo>
                  <a:pt x="0" y="0"/>
                </a:moveTo>
                <a:lnTo>
                  <a:pt x="7917078" y="0"/>
                </a:lnTo>
                <a:lnTo>
                  <a:pt x="7917078" y="1378979"/>
                </a:lnTo>
                <a:lnTo>
                  <a:pt x="0" y="1378979"/>
                </a:lnTo>
                <a:lnTo>
                  <a:pt x="0" y="0"/>
                </a:lnTo>
                <a:close/>
              </a:path>
            </a:pathLst>
          </a:custGeom>
          <a:blipFill>
            <a:blip r:embed="rId12"/>
            <a:stretch>
              <a:fillRect l="-13796" t="-155206" r="-42054" b="-248109"/>
            </a:stretch>
          </a:blipFill>
        </p:spPr>
      </p:sp>
      <p:sp>
        <p:nvSpPr>
          <p:cNvPr name="Freeform 9" id="9"/>
          <p:cNvSpPr/>
          <p:nvPr/>
        </p:nvSpPr>
        <p:spPr>
          <a:xfrm flipH="false" flipV="false" rot="0">
            <a:off x="1458267" y="4847290"/>
            <a:ext cx="8008927" cy="1412428"/>
          </a:xfrm>
          <a:custGeom>
            <a:avLst/>
            <a:gdLst/>
            <a:ahLst/>
            <a:cxnLst/>
            <a:rect r="r" b="b" t="t" l="l"/>
            <a:pathLst>
              <a:path h="1412428" w="8008927">
                <a:moveTo>
                  <a:pt x="0" y="0"/>
                </a:moveTo>
                <a:lnTo>
                  <a:pt x="8008927" y="0"/>
                </a:lnTo>
                <a:lnTo>
                  <a:pt x="8008927" y="1412428"/>
                </a:lnTo>
                <a:lnTo>
                  <a:pt x="0" y="1412428"/>
                </a:lnTo>
                <a:lnTo>
                  <a:pt x="0" y="0"/>
                </a:lnTo>
                <a:close/>
              </a:path>
            </a:pathLst>
          </a:custGeom>
          <a:blipFill>
            <a:blip r:embed="rId12"/>
            <a:stretch>
              <a:fillRect l="0" t="-108280" r="0" b="-110675"/>
            </a:stretch>
          </a:blipFill>
        </p:spPr>
      </p:sp>
      <p:sp>
        <p:nvSpPr>
          <p:cNvPr name="Freeform 10" id="10"/>
          <p:cNvSpPr/>
          <p:nvPr/>
        </p:nvSpPr>
        <p:spPr>
          <a:xfrm flipH="false" flipV="false" rot="0">
            <a:off x="1504192" y="6574043"/>
            <a:ext cx="7917077" cy="1241205"/>
          </a:xfrm>
          <a:custGeom>
            <a:avLst/>
            <a:gdLst/>
            <a:ahLst/>
            <a:cxnLst/>
            <a:rect r="r" b="b" t="t" l="l"/>
            <a:pathLst>
              <a:path h="1241205" w="7917077">
                <a:moveTo>
                  <a:pt x="0" y="0"/>
                </a:moveTo>
                <a:lnTo>
                  <a:pt x="7917077" y="0"/>
                </a:lnTo>
                <a:lnTo>
                  <a:pt x="7917077" y="1241206"/>
                </a:lnTo>
                <a:lnTo>
                  <a:pt x="0" y="1241206"/>
                </a:lnTo>
                <a:lnTo>
                  <a:pt x="0" y="0"/>
                </a:lnTo>
                <a:close/>
              </a:path>
            </a:pathLst>
          </a:custGeom>
          <a:blipFill>
            <a:blip r:embed="rId12"/>
            <a:stretch>
              <a:fillRect l="0" t="-123846" r="0" b="-134946"/>
            </a:stretch>
          </a:blipFill>
        </p:spPr>
      </p:sp>
      <p:sp>
        <p:nvSpPr>
          <p:cNvPr name="Freeform 11" id="11"/>
          <p:cNvSpPr/>
          <p:nvPr/>
        </p:nvSpPr>
        <p:spPr>
          <a:xfrm flipH="false" flipV="false" rot="0">
            <a:off x="10606578" y="3235109"/>
            <a:ext cx="7388403" cy="1378979"/>
          </a:xfrm>
          <a:custGeom>
            <a:avLst/>
            <a:gdLst/>
            <a:ahLst/>
            <a:cxnLst/>
            <a:rect r="r" b="b" t="t" l="l"/>
            <a:pathLst>
              <a:path h="1378979" w="7388403">
                <a:moveTo>
                  <a:pt x="0" y="0"/>
                </a:moveTo>
                <a:lnTo>
                  <a:pt x="7388403" y="0"/>
                </a:lnTo>
                <a:lnTo>
                  <a:pt x="7388403" y="1378979"/>
                </a:lnTo>
                <a:lnTo>
                  <a:pt x="0" y="1378979"/>
                </a:lnTo>
                <a:lnTo>
                  <a:pt x="0" y="0"/>
                </a:lnTo>
                <a:close/>
              </a:path>
            </a:pathLst>
          </a:custGeom>
          <a:blipFill>
            <a:blip r:embed="rId12"/>
            <a:stretch>
              <a:fillRect l="0" t="-100690" r="0" b="-100690"/>
            </a:stretch>
          </a:blipFill>
        </p:spPr>
      </p:sp>
      <p:sp>
        <p:nvSpPr>
          <p:cNvPr name="Freeform 12" id="12"/>
          <p:cNvSpPr/>
          <p:nvPr/>
        </p:nvSpPr>
        <p:spPr>
          <a:xfrm flipH="false" flipV="false" rot="0">
            <a:off x="10606578" y="4899613"/>
            <a:ext cx="7319516" cy="1360105"/>
          </a:xfrm>
          <a:custGeom>
            <a:avLst/>
            <a:gdLst/>
            <a:ahLst/>
            <a:cxnLst/>
            <a:rect r="r" b="b" t="t" l="l"/>
            <a:pathLst>
              <a:path h="1360105" w="7319516">
                <a:moveTo>
                  <a:pt x="0" y="0"/>
                </a:moveTo>
                <a:lnTo>
                  <a:pt x="7319516" y="0"/>
                </a:lnTo>
                <a:lnTo>
                  <a:pt x="7319516" y="1360105"/>
                </a:lnTo>
                <a:lnTo>
                  <a:pt x="0" y="1360105"/>
                </a:lnTo>
                <a:lnTo>
                  <a:pt x="0" y="0"/>
                </a:lnTo>
                <a:close/>
              </a:path>
            </a:pathLst>
          </a:custGeom>
          <a:blipFill>
            <a:blip r:embed="rId12"/>
            <a:stretch>
              <a:fillRect l="0" t="-98789" r="0" b="-103924"/>
            </a:stretch>
          </a:blipFill>
        </p:spPr>
      </p:sp>
      <p:sp>
        <p:nvSpPr>
          <p:cNvPr name="Freeform 13" id="13"/>
          <p:cNvSpPr/>
          <p:nvPr/>
        </p:nvSpPr>
        <p:spPr>
          <a:xfrm flipH="false" flipV="false" rot="0">
            <a:off x="10606578" y="6478596"/>
            <a:ext cx="7319516" cy="1378979"/>
          </a:xfrm>
          <a:custGeom>
            <a:avLst/>
            <a:gdLst/>
            <a:ahLst/>
            <a:cxnLst/>
            <a:rect r="r" b="b" t="t" l="l"/>
            <a:pathLst>
              <a:path h="1378979" w="7319516">
                <a:moveTo>
                  <a:pt x="0" y="0"/>
                </a:moveTo>
                <a:lnTo>
                  <a:pt x="7319516" y="0"/>
                </a:lnTo>
                <a:lnTo>
                  <a:pt x="7319516" y="1378979"/>
                </a:lnTo>
                <a:lnTo>
                  <a:pt x="0" y="1378979"/>
                </a:lnTo>
                <a:lnTo>
                  <a:pt x="0" y="0"/>
                </a:lnTo>
                <a:close/>
              </a:path>
            </a:pathLst>
          </a:custGeom>
          <a:blipFill>
            <a:blip r:embed="rId12"/>
            <a:stretch>
              <a:fillRect l="0" t="-99285" r="0" b="-99285"/>
            </a:stretch>
          </a:blipFill>
        </p:spPr>
      </p:sp>
      <p:sp>
        <p:nvSpPr>
          <p:cNvPr name="Freeform 14" id="14"/>
          <p:cNvSpPr/>
          <p:nvPr/>
        </p:nvSpPr>
        <p:spPr>
          <a:xfrm flipH="false" flipV="false" rot="0">
            <a:off x="5943487" y="8196858"/>
            <a:ext cx="7388403" cy="1378979"/>
          </a:xfrm>
          <a:custGeom>
            <a:avLst/>
            <a:gdLst/>
            <a:ahLst/>
            <a:cxnLst/>
            <a:rect r="r" b="b" t="t" l="l"/>
            <a:pathLst>
              <a:path h="1378979" w="7388403">
                <a:moveTo>
                  <a:pt x="0" y="0"/>
                </a:moveTo>
                <a:lnTo>
                  <a:pt x="7388403" y="0"/>
                </a:lnTo>
                <a:lnTo>
                  <a:pt x="7388403" y="1378979"/>
                </a:lnTo>
                <a:lnTo>
                  <a:pt x="0" y="1378979"/>
                </a:lnTo>
                <a:lnTo>
                  <a:pt x="0" y="0"/>
                </a:lnTo>
                <a:close/>
              </a:path>
            </a:pathLst>
          </a:custGeom>
          <a:blipFill>
            <a:blip r:embed="rId12"/>
            <a:stretch>
              <a:fillRect l="0" t="-100690" r="0" b="-100690"/>
            </a:stretch>
          </a:blipFill>
        </p:spPr>
      </p:sp>
      <p:sp>
        <p:nvSpPr>
          <p:cNvPr name="TextBox 15" id="15"/>
          <p:cNvSpPr txBox="true"/>
          <p:nvPr/>
        </p:nvSpPr>
        <p:spPr>
          <a:xfrm rot="0">
            <a:off x="5764325" y="1563115"/>
            <a:ext cx="7808865" cy="961999"/>
          </a:xfrm>
          <a:prstGeom prst="rect">
            <a:avLst/>
          </a:prstGeom>
        </p:spPr>
        <p:txBody>
          <a:bodyPr anchor="t" rtlCol="false" tIns="0" lIns="0" bIns="0" rIns="0">
            <a:spAutoFit/>
          </a:bodyPr>
          <a:lstStyle/>
          <a:p>
            <a:pPr algn="just">
              <a:lnSpc>
                <a:spcPts val="6641"/>
              </a:lnSpc>
            </a:pPr>
            <a:r>
              <a:rPr lang="en-US" sz="6846">
                <a:solidFill>
                  <a:srgbClr val="1A513F"/>
                </a:solidFill>
                <a:latin typeface="Some Time Later"/>
                <a:ea typeface="Some Time Later"/>
                <a:cs typeface="Some Time Later"/>
                <a:sym typeface="Some Time Later"/>
              </a:rPr>
              <a:t>  Project Objectives</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A513F"/>
                </a:solidFill>
                <a:latin typeface="Canva Sans"/>
                <a:ea typeface="Canva Sans"/>
                <a:cs typeface="Canva Sans"/>
                <a:sym typeface="Canva Sans"/>
              </a:rPr>
              <a:t>3</a:t>
            </a:r>
          </a:p>
        </p:txBody>
      </p:sp>
      <p:sp>
        <p:nvSpPr>
          <p:cNvPr name="TextBox 17" id="17"/>
          <p:cNvSpPr txBox="true"/>
          <p:nvPr/>
        </p:nvSpPr>
        <p:spPr>
          <a:xfrm rot="0">
            <a:off x="1992271" y="3440557"/>
            <a:ext cx="6849070" cy="778510"/>
          </a:xfrm>
          <a:prstGeom prst="rect">
            <a:avLst/>
          </a:prstGeom>
        </p:spPr>
        <p:txBody>
          <a:bodyPr anchor="t" rtlCol="false" tIns="0" lIns="0" bIns="0" rIns="0">
            <a:spAutoFit/>
          </a:bodyPr>
          <a:lstStyle/>
          <a:p>
            <a:pPr algn="ctr">
              <a:lnSpc>
                <a:spcPts val="6440"/>
              </a:lnSpc>
            </a:pPr>
            <a:r>
              <a:rPr lang="en-US" sz="4600">
                <a:solidFill>
                  <a:srgbClr val="FFFFFF"/>
                </a:solidFill>
                <a:latin typeface="Canva Sans"/>
                <a:ea typeface="Canva Sans"/>
                <a:cs typeface="Canva Sans"/>
                <a:sym typeface="Canva Sans"/>
              </a:rPr>
              <a:t>Secure  user</a:t>
            </a:r>
            <a:r>
              <a:rPr lang="en-US" sz="4600" b="true">
                <a:solidFill>
                  <a:srgbClr val="FFFFFF"/>
                </a:solidFill>
                <a:latin typeface="Canva Sans Bold"/>
                <a:ea typeface="Canva Sans Bold"/>
                <a:cs typeface="Canva Sans Bold"/>
                <a:sym typeface="Canva Sans Bold"/>
              </a:rPr>
              <a:t> </a:t>
            </a:r>
            <a:r>
              <a:rPr lang="en-US" sz="4600">
                <a:solidFill>
                  <a:srgbClr val="FFFFFF"/>
                </a:solidFill>
                <a:latin typeface="Canva Sans"/>
                <a:ea typeface="Canva Sans"/>
                <a:cs typeface="Canva Sans"/>
                <a:sym typeface="Canva Sans"/>
              </a:rPr>
              <a:t>registration</a:t>
            </a:r>
          </a:p>
        </p:txBody>
      </p:sp>
      <p:sp>
        <p:nvSpPr>
          <p:cNvPr name="TextBox 18" id="18"/>
          <p:cNvSpPr txBox="true"/>
          <p:nvPr/>
        </p:nvSpPr>
        <p:spPr>
          <a:xfrm rot="0">
            <a:off x="1504192" y="5072053"/>
            <a:ext cx="7917077" cy="755015"/>
          </a:xfrm>
          <a:prstGeom prst="rect">
            <a:avLst/>
          </a:prstGeom>
        </p:spPr>
        <p:txBody>
          <a:bodyPr anchor="t" rtlCol="false" tIns="0" lIns="0" bIns="0" rIns="0">
            <a:spAutoFit/>
          </a:bodyPr>
          <a:lstStyle/>
          <a:p>
            <a:pPr algn="ctr">
              <a:lnSpc>
                <a:spcPts val="6160"/>
              </a:lnSpc>
            </a:pPr>
            <a:r>
              <a:rPr lang="en-US" sz="4400">
                <a:solidFill>
                  <a:srgbClr val="FFFFFF"/>
                </a:solidFill>
                <a:latin typeface="Canva Sans"/>
                <a:ea typeface="Canva Sans"/>
                <a:cs typeface="Canva Sans"/>
                <a:sym typeface="Canva Sans"/>
              </a:rPr>
              <a:t>Secure login authentication</a:t>
            </a:r>
          </a:p>
        </p:txBody>
      </p:sp>
      <p:sp>
        <p:nvSpPr>
          <p:cNvPr name="TextBox 19" id="19"/>
          <p:cNvSpPr txBox="true"/>
          <p:nvPr/>
        </p:nvSpPr>
        <p:spPr>
          <a:xfrm rot="0">
            <a:off x="1504192" y="6735968"/>
            <a:ext cx="7917077" cy="778510"/>
          </a:xfrm>
          <a:prstGeom prst="rect">
            <a:avLst/>
          </a:prstGeom>
        </p:spPr>
        <p:txBody>
          <a:bodyPr anchor="t" rtlCol="false" tIns="0" lIns="0" bIns="0" rIns="0">
            <a:spAutoFit/>
          </a:bodyPr>
          <a:lstStyle/>
          <a:p>
            <a:pPr algn="ctr">
              <a:lnSpc>
                <a:spcPts val="6440"/>
              </a:lnSpc>
            </a:pPr>
            <a:r>
              <a:rPr lang="en-US" sz="4600">
                <a:solidFill>
                  <a:srgbClr val="FFFFFF"/>
                </a:solidFill>
                <a:latin typeface="Canva Sans"/>
                <a:ea typeface="Canva Sans"/>
                <a:cs typeface="Canva Sans"/>
                <a:sym typeface="Canva Sans"/>
              </a:rPr>
              <a:t>Password Hashing</a:t>
            </a:r>
          </a:p>
        </p:txBody>
      </p:sp>
      <p:sp>
        <p:nvSpPr>
          <p:cNvPr name="TextBox 20" id="20"/>
          <p:cNvSpPr txBox="true"/>
          <p:nvPr/>
        </p:nvSpPr>
        <p:spPr>
          <a:xfrm rot="0">
            <a:off x="10856594" y="3396429"/>
            <a:ext cx="6476406" cy="778510"/>
          </a:xfrm>
          <a:prstGeom prst="rect">
            <a:avLst/>
          </a:prstGeom>
        </p:spPr>
        <p:txBody>
          <a:bodyPr anchor="t" rtlCol="false" tIns="0" lIns="0" bIns="0" rIns="0">
            <a:spAutoFit/>
          </a:bodyPr>
          <a:lstStyle/>
          <a:p>
            <a:pPr algn="ctr">
              <a:lnSpc>
                <a:spcPts val="6440"/>
              </a:lnSpc>
            </a:pPr>
            <a:r>
              <a:rPr lang="en-US" sz="4600">
                <a:solidFill>
                  <a:srgbClr val="FFFFFF"/>
                </a:solidFill>
                <a:latin typeface="Canva Sans"/>
                <a:ea typeface="Canva Sans"/>
                <a:cs typeface="Canva Sans"/>
                <a:sym typeface="Canva Sans"/>
              </a:rPr>
              <a:t>Brute-Force Detection</a:t>
            </a:r>
          </a:p>
        </p:txBody>
      </p:sp>
      <p:sp>
        <p:nvSpPr>
          <p:cNvPr name="TextBox 21" id="21"/>
          <p:cNvSpPr txBox="true"/>
          <p:nvPr/>
        </p:nvSpPr>
        <p:spPr>
          <a:xfrm rot="0">
            <a:off x="10800134" y="5175903"/>
            <a:ext cx="6932404" cy="778510"/>
          </a:xfrm>
          <a:prstGeom prst="rect">
            <a:avLst/>
          </a:prstGeom>
        </p:spPr>
        <p:txBody>
          <a:bodyPr anchor="t" rtlCol="false" tIns="0" lIns="0" bIns="0" rIns="0">
            <a:spAutoFit/>
          </a:bodyPr>
          <a:lstStyle/>
          <a:p>
            <a:pPr algn="ctr">
              <a:lnSpc>
                <a:spcPts val="6440"/>
              </a:lnSpc>
            </a:pPr>
            <a:r>
              <a:rPr lang="en-US" sz="4600">
                <a:solidFill>
                  <a:srgbClr val="FFFFFF"/>
                </a:solidFill>
                <a:latin typeface="Canva Sans"/>
                <a:ea typeface="Canva Sans"/>
                <a:cs typeface="Canva Sans"/>
                <a:sym typeface="Canva Sans"/>
              </a:rPr>
              <a:t>Automatic Account Lock</a:t>
            </a:r>
          </a:p>
        </p:txBody>
      </p:sp>
      <p:sp>
        <p:nvSpPr>
          <p:cNvPr name="TextBox 22" id="22"/>
          <p:cNvSpPr txBox="true"/>
          <p:nvPr/>
        </p:nvSpPr>
        <p:spPr>
          <a:xfrm rot="0">
            <a:off x="10827176" y="6643518"/>
            <a:ext cx="6672086" cy="778510"/>
          </a:xfrm>
          <a:prstGeom prst="rect">
            <a:avLst/>
          </a:prstGeom>
        </p:spPr>
        <p:txBody>
          <a:bodyPr anchor="t" rtlCol="false" tIns="0" lIns="0" bIns="0" rIns="0">
            <a:spAutoFit/>
          </a:bodyPr>
          <a:lstStyle/>
          <a:p>
            <a:pPr algn="ctr">
              <a:lnSpc>
                <a:spcPts val="6440"/>
              </a:lnSpc>
            </a:pPr>
            <a:r>
              <a:rPr lang="en-US" sz="4600">
                <a:solidFill>
                  <a:srgbClr val="FFFFFF"/>
                </a:solidFill>
                <a:latin typeface="Canva Sans"/>
                <a:ea typeface="Canva Sans"/>
                <a:cs typeface="Canva Sans"/>
                <a:sym typeface="Canva Sans"/>
              </a:rPr>
              <a:t>Security Logging</a:t>
            </a:r>
          </a:p>
        </p:txBody>
      </p:sp>
      <p:sp>
        <p:nvSpPr>
          <p:cNvPr name="TextBox 23" id="23"/>
          <p:cNvSpPr txBox="true"/>
          <p:nvPr/>
        </p:nvSpPr>
        <p:spPr>
          <a:xfrm rot="0">
            <a:off x="6498578" y="8433714"/>
            <a:ext cx="6340359" cy="778510"/>
          </a:xfrm>
          <a:prstGeom prst="rect">
            <a:avLst/>
          </a:prstGeom>
        </p:spPr>
        <p:txBody>
          <a:bodyPr anchor="t" rtlCol="false" tIns="0" lIns="0" bIns="0" rIns="0">
            <a:spAutoFit/>
          </a:bodyPr>
          <a:lstStyle/>
          <a:p>
            <a:pPr algn="ctr">
              <a:lnSpc>
                <a:spcPts val="6440"/>
              </a:lnSpc>
            </a:pPr>
            <a:r>
              <a:rPr lang="en-US" sz="4600">
                <a:solidFill>
                  <a:srgbClr val="FFFFFF"/>
                </a:solidFill>
                <a:latin typeface="Canva Sans"/>
                <a:ea typeface="Canva Sans"/>
                <a:cs typeface="Canva Sans"/>
                <a:sym typeface="Canva Sans"/>
              </a:rPr>
              <a:t>Admin Control Panel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267865" y="8519439"/>
            <a:ext cx="2383880" cy="2214841"/>
          </a:xfrm>
          <a:custGeom>
            <a:avLst/>
            <a:gdLst/>
            <a:ahLst/>
            <a:cxnLst/>
            <a:rect r="r" b="b" t="t" l="l"/>
            <a:pathLst>
              <a:path h="2214841" w="2383880">
                <a:moveTo>
                  <a:pt x="0" y="0"/>
                </a:moveTo>
                <a:lnTo>
                  <a:pt x="2383880" y="0"/>
                </a:lnTo>
                <a:lnTo>
                  <a:pt x="2383880" y="2214841"/>
                </a:lnTo>
                <a:lnTo>
                  <a:pt x="0" y="2214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95705" y="8744672"/>
            <a:ext cx="2292295" cy="1767151"/>
          </a:xfrm>
          <a:custGeom>
            <a:avLst/>
            <a:gdLst/>
            <a:ahLst/>
            <a:cxnLst/>
            <a:rect r="r" b="b" t="t" l="l"/>
            <a:pathLst>
              <a:path h="1767151" w="2292295">
                <a:moveTo>
                  <a:pt x="0" y="0"/>
                </a:moveTo>
                <a:lnTo>
                  <a:pt x="2292295" y="0"/>
                </a:lnTo>
                <a:lnTo>
                  <a:pt x="2292295" y="1767151"/>
                </a:lnTo>
                <a:lnTo>
                  <a:pt x="0" y="17671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34942" y="-679158"/>
            <a:ext cx="2257985" cy="1707858"/>
          </a:xfrm>
          <a:custGeom>
            <a:avLst/>
            <a:gdLst/>
            <a:ahLst/>
            <a:cxnLst/>
            <a:rect r="r" b="b" t="t" l="l"/>
            <a:pathLst>
              <a:path h="1707858" w="2257985">
                <a:moveTo>
                  <a:pt x="0" y="0"/>
                </a:moveTo>
                <a:lnTo>
                  <a:pt x="2257985" y="0"/>
                </a:lnTo>
                <a:lnTo>
                  <a:pt x="2257985" y="1707858"/>
                </a:lnTo>
                <a:lnTo>
                  <a:pt x="0" y="17078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6994" y="-1173712"/>
            <a:ext cx="4812691" cy="3491389"/>
          </a:xfrm>
          <a:custGeom>
            <a:avLst/>
            <a:gdLst/>
            <a:ahLst/>
            <a:cxnLst/>
            <a:rect r="r" b="b" t="t" l="l"/>
            <a:pathLst>
              <a:path h="3491389" w="4812691">
                <a:moveTo>
                  <a:pt x="0" y="0"/>
                </a:moveTo>
                <a:lnTo>
                  <a:pt x="4812691" y="0"/>
                </a:lnTo>
                <a:lnTo>
                  <a:pt x="4812691" y="3491389"/>
                </a:lnTo>
                <a:lnTo>
                  <a:pt x="0" y="3491389"/>
                </a:lnTo>
                <a:lnTo>
                  <a:pt x="0" y="0"/>
                </a:lnTo>
                <a:close/>
              </a:path>
            </a:pathLst>
          </a:custGeom>
          <a:blipFill>
            <a:blip r:embed="rId8"/>
            <a:stretch>
              <a:fillRect l="0" t="0" r="0" b="0"/>
            </a:stretch>
          </a:blipFill>
        </p:spPr>
      </p:sp>
      <p:sp>
        <p:nvSpPr>
          <p:cNvPr name="Freeform 6" id="6"/>
          <p:cNvSpPr/>
          <p:nvPr/>
        </p:nvSpPr>
        <p:spPr>
          <a:xfrm flipH="false" flipV="false" rot="0">
            <a:off x="-330594" y="397215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1"/>
            <a:stretch>
              <a:fillRect l="0" t="0" r="0" b="0"/>
            </a:stretch>
          </a:blipFill>
        </p:spPr>
      </p:sp>
      <p:sp>
        <p:nvSpPr>
          <p:cNvPr name="Freeform 8" id="8"/>
          <p:cNvSpPr/>
          <p:nvPr/>
        </p:nvSpPr>
        <p:spPr>
          <a:xfrm flipH="false" flipV="false" rot="0">
            <a:off x="3121864" y="2947505"/>
            <a:ext cx="11602320" cy="6159755"/>
          </a:xfrm>
          <a:custGeom>
            <a:avLst/>
            <a:gdLst/>
            <a:ahLst/>
            <a:cxnLst/>
            <a:rect r="r" b="b" t="t" l="l"/>
            <a:pathLst>
              <a:path h="6159755" w="11602320">
                <a:moveTo>
                  <a:pt x="0" y="0"/>
                </a:moveTo>
                <a:lnTo>
                  <a:pt x="11602320" y="0"/>
                </a:lnTo>
                <a:lnTo>
                  <a:pt x="11602320" y="6159754"/>
                </a:lnTo>
                <a:lnTo>
                  <a:pt x="0" y="6159754"/>
                </a:lnTo>
                <a:lnTo>
                  <a:pt x="0" y="0"/>
                </a:lnTo>
                <a:close/>
              </a:path>
            </a:pathLst>
          </a:custGeom>
          <a:blipFill>
            <a:blip r:embed="rId12"/>
            <a:stretch>
              <a:fillRect l="-2770" t="-3727" r="-3184" b="-5218"/>
            </a:stretch>
          </a:blipFill>
        </p:spPr>
      </p:sp>
      <p:sp>
        <p:nvSpPr>
          <p:cNvPr name="TextBox 9" id="9"/>
          <p:cNvSpPr txBox="true"/>
          <p:nvPr/>
        </p:nvSpPr>
        <p:spPr>
          <a:xfrm rot="0">
            <a:off x="5030072" y="1625571"/>
            <a:ext cx="7808865" cy="961999"/>
          </a:xfrm>
          <a:prstGeom prst="rect">
            <a:avLst/>
          </a:prstGeom>
        </p:spPr>
        <p:txBody>
          <a:bodyPr anchor="t" rtlCol="false" tIns="0" lIns="0" bIns="0" rIns="0">
            <a:spAutoFit/>
          </a:bodyPr>
          <a:lstStyle/>
          <a:p>
            <a:pPr algn="just">
              <a:lnSpc>
                <a:spcPts val="6641"/>
              </a:lnSpc>
            </a:pPr>
            <a:r>
              <a:rPr lang="en-US" sz="6846">
                <a:solidFill>
                  <a:srgbClr val="1A513F"/>
                </a:solidFill>
                <a:latin typeface="Some Time Later"/>
                <a:ea typeface="Some Time Later"/>
                <a:cs typeface="Some Time Later"/>
                <a:sym typeface="Some Time Later"/>
              </a:rPr>
              <a:t>System Architecture</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A513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958686" y="8216152"/>
            <a:ext cx="3722361" cy="2698712"/>
          </a:xfrm>
          <a:custGeom>
            <a:avLst/>
            <a:gdLst/>
            <a:ahLst/>
            <a:cxnLst/>
            <a:rect r="r" b="b" t="t" l="l"/>
            <a:pathLst>
              <a:path h="2698712" w="3722361">
                <a:moveTo>
                  <a:pt x="0" y="0"/>
                </a:moveTo>
                <a:lnTo>
                  <a:pt x="3722362" y="0"/>
                </a:lnTo>
                <a:lnTo>
                  <a:pt x="3722362" y="2698712"/>
                </a:lnTo>
                <a:lnTo>
                  <a:pt x="0" y="2698712"/>
                </a:lnTo>
                <a:lnTo>
                  <a:pt x="0" y="0"/>
                </a:lnTo>
                <a:close/>
              </a:path>
            </a:pathLst>
          </a:custGeom>
          <a:blipFill>
            <a:blip r:embed="rId2"/>
            <a:stretch>
              <a:fillRect l="0" t="0" r="0" b="0"/>
            </a:stretch>
          </a:blipFill>
        </p:spPr>
      </p:sp>
      <p:sp>
        <p:nvSpPr>
          <p:cNvPr name="Freeform 3" id="3"/>
          <p:cNvSpPr/>
          <p:nvPr/>
        </p:nvSpPr>
        <p:spPr>
          <a:xfrm flipH="false" flipV="false" rot="0">
            <a:off x="16236959" y="8381396"/>
            <a:ext cx="2051041" cy="1905604"/>
          </a:xfrm>
          <a:custGeom>
            <a:avLst/>
            <a:gdLst/>
            <a:ahLst/>
            <a:cxnLst/>
            <a:rect r="r" b="b" t="t" l="l"/>
            <a:pathLst>
              <a:path h="1905604" w="2051041">
                <a:moveTo>
                  <a:pt x="0" y="0"/>
                </a:moveTo>
                <a:lnTo>
                  <a:pt x="2051041" y="0"/>
                </a:lnTo>
                <a:lnTo>
                  <a:pt x="2051041" y="1905604"/>
                </a:lnTo>
                <a:lnTo>
                  <a:pt x="0" y="1905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5"/>
            <a:stretch>
              <a:fillRect l="0" t="0" r="0" b="0"/>
            </a:stretch>
          </a:blipFill>
        </p:spPr>
      </p:sp>
      <p:sp>
        <p:nvSpPr>
          <p:cNvPr name="Freeform 5" id="5"/>
          <p:cNvSpPr/>
          <p:nvPr/>
        </p:nvSpPr>
        <p:spPr>
          <a:xfrm flipH="false" flipV="false" rot="0">
            <a:off x="1307762" y="2633500"/>
            <a:ext cx="4349581" cy="2285106"/>
          </a:xfrm>
          <a:custGeom>
            <a:avLst/>
            <a:gdLst/>
            <a:ahLst/>
            <a:cxnLst/>
            <a:rect r="r" b="b" t="t" l="l"/>
            <a:pathLst>
              <a:path h="2285106" w="4349581">
                <a:moveTo>
                  <a:pt x="0" y="0"/>
                </a:moveTo>
                <a:lnTo>
                  <a:pt x="4349581" y="0"/>
                </a:lnTo>
                <a:lnTo>
                  <a:pt x="4349581" y="2285106"/>
                </a:lnTo>
                <a:lnTo>
                  <a:pt x="0" y="2285106"/>
                </a:lnTo>
                <a:lnTo>
                  <a:pt x="0" y="0"/>
                </a:lnTo>
                <a:close/>
              </a:path>
            </a:pathLst>
          </a:custGeom>
          <a:blipFill>
            <a:blip r:embed="rId6"/>
            <a:stretch>
              <a:fillRect l="0" t="0" r="0" b="0"/>
            </a:stretch>
          </a:blipFill>
        </p:spPr>
      </p:sp>
      <p:sp>
        <p:nvSpPr>
          <p:cNvPr name="Freeform 6" id="6"/>
          <p:cNvSpPr/>
          <p:nvPr/>
        </p:nvSpPr>
        <p:spPr>
          <a:xfrm flipH="false" flipV="false" rot="0">
            <a:off x="6367724" y="2633500"/>
            <a:ext cx="4764356" cy="2225449"/>
          </a:xfrm>
          <a:custGeom>
            <a:avLst/>
            <a:gdLst/>
            <a:ahLst/>
            <a:cxnLst/>
            <a:rect r="r" b="b" t="t" l="l"/>
            <a:pathLst>
              <a:path h="2225449" w="4764356">
                <a:moveTo>
                  <a:pt x="0" y="0"/>
                </a:moveTo>
                <a:lnTo>
                  <a:pt x="4764355" y="0"/>
                </a:lnTo>
                <a:lnTo>
                  <a:pt x="4764355" y="2225450"/>
                </a:lnTo>
                <a:lnTo>
                  <a:pt x="0" y="2225450"/>
                </a:lnTo>
                <a:lnTo>
                  <a:pt x="0" y="0"/>
                </a:lnTo>
                <a:close/>
              </a:path>
            </a:pathLst>
          </a:custGeom>
          <a:blipFill>
            <a:blip r:embed="rId7"/>
            <a:stretch>
              <a:fillRect l="0" t="0" r="-8673" b="0"/>
            </a:stretch>
          </a:blipFill>
        </p:spPr>
      </p:sp>
      <p:sp>
        <p:nvSpPr>
          <p:cNvPr name="Freeform 7" id="7"/>
          <p:cNvSpPr/>
          <p:nvPr/>
        </p:nvSpPr>
        <p:spPr>
          <a:xfrm flipH="false" flipV="false" rot="0">
            <a:off x="11475508" y="2769896"/>
            <a:ext cx="6536652" cy="1823472"/>
          </a:xfrm>
          <a:custGeom>
            <a:avLst/>
            <a:gdLst/>
            <a:ahLst/>
            <a:cxnLst/>
            <a:rect r="r" b="b" t="t" l="l"/>
            <a:pathLst>
              <a:path h="1823472" w="6536652">
                <a:moveTo>
                  <a:pt x="0" y="0"/>
                </a:moveTo>
                <a:lnTo>
                  <a:pt x="6536652" y="0"/>
                </a:lnTo>
                <a:lnTo>
                  <a:pt x="6536652" y="1823472"/>
                </a:lnTo>
                <a:lnTo>
                  <a:pt x="0" y="1823472"/>
                </a:lnTo>
                <a:lnTo>
                  <a:pt x="0" y="0"/>
                </a:lnTo>
                <a:close/>
              </a:path>
            </a:pathLst>
          </a:custGeom>
          <a:blipFill>
            <a:blip r:embed="rId8"/>
            <a:stretch>
              <a:fillRect l="0" t="0" r="-4219" b="0"/>
            </a:stretch>
          </a:blipFill>
        </p:spPr>
      </p:sp>
      <p:sp>
        <p:nvSpPr>
          <p:cNvPr name="TextBox 8" id="8"/>
          <p:cNvSpPr txBox="true"/>
          <p:nvPr/>
        </p:nvSpPr>
        <p:spPr>
          <a:xfrm rot="0">
            <a:off x="7551217" y="-78737"/>
            <a:ext cx="3401139" cy="1652269"/>
          </a:xfrm>
          <a:prstGeom prst="rect">
            <a:avLst/>
          </a:prstGeom>
        </p:spPr>
        <p:txBody>
          <a:bodyPr anchor="t" rtlCol="false" tIns="0" lIns="0" bIns="0" rIns="0">
            <a:spAutoFit/>
          </a:bodyPr>
          <a:lstStyle/>
          <a:p>
            <a:pPr algn="ctr">
              <a:lnSpc>
                <a:spcPts val="12880"/>
              </a:lnSpc>
            </a:pPr>
            <a:r>
              <a:rPr lang="en-US" sz="9200">
                <a:solidFill>
                  <a:srgbClr val="1A513F"/>
                </a:solidFill>
                <a:latin typeface="Some Time Later"/>
                <a:ea typeface="Some Time Later"/>
                <a:cs typeface="Some Time Later"/>
                <a:sym typeface="Some Time Later"/>
              </a:rPr>
              <a:t>Output</a:t>
            </a:r>
          </a:p>
        </p:txBody>
      </p:sp>
      <p:sp>
        <p:nvSpPr>
          <p:cNvPr name="TextBox 9" id="9"/>
          <p:cNvSpPr txBox="true"/>
          <p:nvPr/>
        </p:nvSpPr>
        <p:spPr>
          <a:xfrm rot="0">
            <a:off x="2259983" y="1470983"/>
            <a:ext cx="2445139" cy="727075"/>
          </a:xfrm>
          <a:prstGeom prst="rect">
            <a:avLst/>
          </a:prstGeom>
        </p:spPr>
        <p:txBody>
          <a:bodyPr anchor="t" rtlCol="false" tIns="0" lIns="0" bIns="0" rIns="0">
            <a:spAutoFit/>
          </a:bodyPr>
          <a:lstStyle/>
          <a:p>
            <a:pPr algn="ctr">
              <a:lnSpc>
                <a:spcPts val="5599"/>
              </a:lnSpc>
            </a:pPr>
            <a:r>
              <a:rPr lang="en-US" sz="3999">
                <a:solidFill>
                  <a:srgbClr val="1A513F"/>
                </a:solidFill>
                <a:latin typeface="Some Time Later"/>
                <a:ea typeface="Some Time Later"/>
                <a:cs typeface="Some Time Later"/>
                <a:sym typeface="Some Time Later"/>
              </a:rPr>
              <a:t>1</a:t>
            </a:r>
          </a:p>
        </p:txBody>
      </p:sp>
      <p:sp>
        <p:nvSpPr>
          <p:cNvPr name="TextBox 10" id="10"/>
          <p:cNvSpPr txBox="true"/>
          <p:nvPr/>
        </p:nvSpPr>
        <p:spPr>
          <a:xfrm rot="0">
            <a:off x="7515025" y="1836426"/>
            <a:ext cx="2445139" cy="618490"/>
          </a:xfrm>
          <a:prstGeom prst="rect">
            <a:avLst/>
          </a:prstGeom>
        </p:spPr>
        <p:txBody>
          <a:bodyPr anchor="t" rtlCol="false" tIns="0" lIns="0" bIns="0" rIns="0">
            <a:spAutoFit/>
          </a:bodyPr>
          <a:lstStyle/>
          <a:p>
            <a:pPr algn="ctr">
              <a:lnSpc>
                <a:spcPts val="4759"/>
              </a:lnSpc>
            </a:pPr>
            <a:r>
              <a:rPr lang="en-US" sz="3399">
                <a:solidFill>
                  <a:srgbClr val="1A513F"/>
                </a:solidFill>
                <a:latin typeface="Some Time Later"/>
                <a:ea typeface="Some Time Later"/>
                <a:cs typeface="Some Time Later"/>
                <a:sym typeface="Some Time Later"/>
              </a:rPr>
              <a:t>2</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A513F"/>
                </a:solidFill>
                <a:latin typeface="Canva Sans"/>
                <a:ea typeface="Canva Sans"/>
                <a:cs typeface="Canva Sans"/>
                <a:sym typeface="Canva Sans"/>
              </a:rPr>
              <a:t>5</a:t>
            </a:r>
          </a:p>
        </p:txBody>
      </p:sp>
      <p:sp>
        <p:nvSpPr>
          <p:cNvPr name="Freeform 12" id="12"/>
          <p:cNvSpPr/>
          <p:nvPr/>
        </p:nvSpPr>
        <p:spPr>
          <a:xfrm flipH="false" flipV="false" rot="0">
            <a:off x="-616658" y="-357686"/>
            <a:ext cx="2257985" cy="1707858"/>
          </a:xfrm>
          <a:custGeom>
            <a:avLst/>
            <a:gdLst/>
            <a:ahLst/>
            <a:cxnLst/>
            <a:rect r="r" b="b" t="t" l="l"/>
            <a:pathLst>
              <a:path h="1707858" w="2257985">
                <a:moveTo>
                  <a:pt x="0" y="0"/>
                </a:moveTo>
                <a:lnTo>
                  <a:pt x="2257985" y="0"/>
                </a:lnTo>
                <a:lnTo>
                  <a:pt x="2257985" y="1707858"/>
                </a:lnTo>
                <a:lnTo>
                  <a:pt x="0" y="17078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4609686" y="1686052"/>
            <a:ext cx="639021" cy="727638"/>
          </a:xfrm>
          <a:prstGeom prst="rect">
            <a:avLst/>
          </a:prstGeom>
        </p:spPr>
        <p:txBody>
          <a:bodyPr anchor="t" rtlCol="false" tIns="0" lIns="0" bIns="0" rIns="0">
            <a:spAutoFit/>
          </a:bodyPr>
          <a:lstStyle/>
          <a:p>
            <a:pPr algn="ctr">
              <a:lnSpc>
                <a:spcPts val="5568"/>
              </a:lnSpc>
            </a:pPr>
            <a:r>
              <a:rPr lang="en-US" sz="3977">
                <a:solidFill>
                  <a:srgbClr val="1A513F"/>
                </a:solidFill>
                <a:latin typeface="Some Time Later"/>
                <a:ea typeface="Some Time Later"/>
                <a:cs typeface="Some Time Later"/>
                <a:sym typeface="Some Time Later"/>
              </a:rPr>
              <a:t>3</a:t>
            </a:r>
          </a:p>
        </p:txBody>
      </p:sp>
      <p:sp>
        <p:nvSpPr>
          <p:cNvPr name="Freeform 14" id="14"/>
          <p:cNvSpPr/>
          <p:nvPr/>
        </p:nvSpPr>
        <p:spPr>
          <a:xfrm flipH="false" flipV="false" rot="0">
            <a:off x="4958760" y="5975881"/>
            <a:ext cx="3976171" cy="4063472"/>
          </a:xfrm>
          <a:custGeom>
            <a:avLst/>
            <a:gdLst/>
            <a:ahLst/>
            <a:cxnLst/>
            <a:rect r="r" b="b" t="t" l="l"/>
            <a:pathLst>
              <a:path h="4063472" w="3976171">
                <a:moveTo>
                  <a:pt x="0" y="0"/>
                </a:moveTo>
                <a:lnTo>
                  <a:pt x="3976171" y="0"/>
                </a:lnTo>
                <a:lnTo>
                  <a:pt x="3976171" y="4063472"/>
                </a:lnTo>
                <a:lnTo>
                  <a:pt x="0" y="4063472"/>
                </a:lnTo>
                <a:lnTo>
                  <a:pt x="0" y="0"/>
                </a:lnTo>
                <a:close/>
              </a:path>
            </a:pathLst>
          </a:custGeom>
          <a:blipFill>
            <a:blip r:embed="rId11"/>
            <a:stretch>
              <a:fillRect l="0" t="0" r="0" b="0"/>
            </a:stretch>
          </a:blipFill>
        </p:spPr>
      </p:sp>
      <p:sp>
        <p:nvSpPr>
          <p:cNvPr name="TextBox 15" id="15"/>
          <p:cNvSpPr txBox="true"/>
          <p:nvPr/>
        </p:nvSpPr>
        <p:spPr>
          <a:xfrm rot="0">
            <a:off x="6974971" y="5029200"/>
            <a:ext cx="540053" cy="693012"/>
          </a:xfrm>
          <a:prstGeom prst="rect">
            <a:avLst/>
          </a:prstGeom>
        </p:spPr>
        <p:txBody>
          <a:bodyPr anchor="t" rtlCol="false" tIns="0" lIns="0" bIns="0" rIns="0">
            <a:spAutoFit/>
          </a:bodyPr>
          <a:lstStyle/>
          <a:p>
            <a:pPr algn="ctr">
              <a:lnSpc>
                <a:spcPts val="5377"/>
              </a:lnSpc>
            </a:pPr>
            <a:r>
              <a:rPr lang="en-US" sz="3841">
                <a:solidFill>
                  <a:srgbClr val="1A513F"/>
                </a:solidFill>
                <a:latin typeface="Some Time Later"/>
                <a:ea typeface="Some Time Later"/>
                <a:cs typeface="Some Time Later"/>
                <a:sym typeface="Some Time Later"/>
              </a:rPr>
              <a:t>4</a:t>
            </a:r>
          </a:p>
        </p:txBody>
      </p:sp>
      <p:sp>
        <p:nvSpPr>
          <p:cNvPr name="Freeform 16" id="16"/>
          <p:cNvSpPr/>
          <p:nvPr/>
        </p:nvSpPr>
        <p:spPr>
          <a:xfrm flipH="false" flipV="false" rot="0">
            <a:off x="9587897" y="6714851"/>
            <a:ext cx="5996095" cy="1863651"/>
          </a:xfrm>
          <a:custGeom>
            <a:avLst/>
            <a:gdLst/>
            <a:ahLst/>
            <a:cxnLst/>
            <a:rect r="r" b="b" t="t" l="l"/>
            <a:pathLst>
              <a:path h="1863651" w="5996095">
                <a:moveTo>
                  <a:pt x="0" y="0"/>
                </a:moveTo>
                <a:lnTo>
                  <a:pt x="5996096" y="0"/>
                </a:lnTo>
                <a:lnTo>
                  <a:pt x="5996096" y="1863651"/>
                </a:lnTo>
                <a:lnTo>
                  <a:pt x="0" y="1863651"/>
                </a:lnTo>
                <a:lnTo>
                  <a:pt x="0" y="0"/>
                </a:lnTo>
                <a:close/>
              </a:path>
            </a:pathLst>
          </a:custGeom>
          <a:blipFill>
            <a:blip r:embed="rId12"/>
            <a:stretch>
              <a:fillRect l="0" t="0" r="0" b="0"/>
            </a:stretch>
          </a:blipFill>
        </p:spPr>
      </p:sp>
      <p:sp>
        <p:nvSpPr>
          <p:cNvPr name="TextBox 17" id="17"/>
          <p:cNvSpPr txBox="true"/>
          <p:nvPr/>
        </p:nvSpPr>
        <p:spPr>
          <a:xfrm rot="0">
            <a:off x="9656784" y="5791555"/>
            <a:ext cx="5996095" cy="618490"/>
          </a:xfrm>
          <a:prstGeom prst="rect">
            <a:avLst/>
          </a:prstGeom>
        </p:spPr>
        <p:txBody>
          <a:bodyPr anchor="t" rtlCol="false" tIns="0" lIns="0" bIns="0" rIns="0">
            <a:spAutoFit/>
          </a:bodyPr>
          <a:lstStyle/>
          <a:p>
            <a:pPr algn="ctr">
              <a:lnSpc>
                <a:spcPts val="4759"/>
              </a:lnSpc>
            </a:pPr>
            <a:r>
              <a:rPr lang="en-US" sz="3399">
                <a:solidFill>
                  <a:srgbClr val="1A513F"/>
                </a:solidFill>
                <a:latin typeface="Some Time Later"/>
                <a:ea typeface="Some Time Later"/>
                <a:cs typeface="Some Time Later"/>
                <a:sym typeface="Some Time Later"/>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1479641" y="264370"/>
            <a:ext cx="3272691" cy="4094562"/>
          </a:xfrm>
          <a:custGeom>
            <a:avLst/>
            <a:gdLst/>
            <a:ahLst/>
            <a:cxnLst/>
            <a:rect r="r" b="b" t="t" l="l"/>
            <a:pathLst>
              <a:path h="4094562" w="3272691">
                <a:moveTo>
                  <a:pt x="0" y="0"/>
                </a:moveTo>
                <a:lnTo>
                  <a:pt x="3272691" y="0"/>
                </a:lnTo>
                <a:lnTo>
                  <a:pt x="3272691" y="4094562"/>
                </a:lnTo>
                <a:lnTo>
                  <a:pt x="0" y="4094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8686" y="7657458"/>
            <a:ext cx="4492975" cy="3257407"/>
          </a:xfrm>
          <a:custGeom>
            <a:avLst/>
            <a:gdLst/>
            <a:ahLst/>
            <a:cxnLst/>
            <a:rect r="r" b="b" t="t" l="l"/>
            <a:pathLst>
              <a:path h="3257407" w="4492975">
                <a:moveTo>
                  <a:pt x="0" y="0"/>
                </a:moveTo>
                <a:lnTo>
                  <a:pt x="4492976" y="0"/>
                </a:lnTo>
                <a:lnTo>
                  <a:pt x="4492976" y="3257406"/>
                </a:lnTo>
                <a:lnTo>
                  <a:pt x="0" y="3257406"/>
                </a:lnTo>
                <a:lnTo>
                  <a:pt x="0" y="0"/>
                </a:lnTo>
                <a:close/>
              </a:path>
            </a:pathLst>
          </a:custGeom>
          <a:blipFill>
            <a:blip r:embed="rId4"/>
            <a:stretch>
              <a:fillRect l="0" t="0" r="0" b="0"/>
            </a:stretch>
          </a:blipFill>
        </p:spPr>
      </p:sp>
      <p:sp>
        <p:nvSpPr>
          <p:cNvPr name="Freeform 4" id="4"/>
          <p:cNvSpPr/>
          <p:nvPr/>
        </p:nvSpPr>
        <p:spPr>
          <a:xfrm flipH="false" flipV="false" rot="0">
            <a:off x="16906477" y="4261739"/>
            <a:ext cx="2063695" cy="1763521"/>
          </a:xfrm>
          <a:custGeom>
            <a:avLst/>
            <a:gdLst/>
            <a:ahLst/>
            <a:cxnLst/>
            <a:rect r="r" b="b" t="t" l="l"/>
            <a:pathLst>
              <a:path h="1763521" w="2063695">
                <a:moveTo>
                  <a:pt x="0" y="0"/>
                </a:moveTo>
                <a:lnTo>
                  <a:pt x="2063695" y="0"/>
                </a:lnTo>
                <a:lnTo>
                  <a:pt x="2063695" y="1763522"/>
                </a:lnTo>
                <a:lnTo>
                  <a:pt x="0" y="1763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10744" y="7335040"/>
            <a:ext cx="3177256" cy="2951960"/>
          </a:xfrm>
          <a:custGeom>
            <a:avLst/>
            <a:gdLst/>
            <a:ahLst/>
            <a:cxnLst/>
            <a:rect r="r" b="b" t="t" l="l"/>
            <a:pathLst>
              <a:path h="2951960" w="3177256">
                <a:moveTo>
                  <a:pt x="0" y="0"/>
                </a:moveTo>
                <a:lnTo>
                  <a:pt x="3177256" y="0"/>
                </a:lnTo>
                <a:lnTo>
                  <a:pt x="3177256" y="2951960"/>
                </a:lnTo>
                <a:lnTo>
                  <a:pt x="0" y="2951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960164" y="8824591"/>
            <a:ext cx="2257985" cy="1707858"/>
          </a:xfrm>
          <a:custGeom>
            <a:avLst/>
            <a:gdLst/>
            <a:ahLst/>
            <a:cxnLst/>
            <a:rect r="r" b="b" t="t" l="l"/>
            <a:pathLst>
              <a:path h="1707858" w="2257985">
                <a:moveTo>
                  <a:pt x="0" y="0"/>
                </a:moveTo>
                <a:lnTo>
                  <a:pt x="2257985" y="0"/>
                </a:lnTo>
                <a:lnTo>
                  <a:pt x="2257985" y="1707857"/>
                </a:lnTo>
                <a:lnTo>
                  <a:pt x="0" y="17078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6285331" y="867753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9960164" y="2421052"/>
            <a:ext cx="5682759" cy="4913988"/>
          </a:xfrm>
          <a:custGeom>
            <a:avLst/>
            <a:gdLst/>
            <a:ahLst/>
            <a:cxnLst/>
            <a:rect r="r" b="b" t="t" l="l"/>
            <a:pathLst>
              <a:path h="4913988" w="5682759">
                <a:moveTo>
                  <a:pt x="0" y="0"/>
                </a:moveTo>
                <a:lnTo>
                  <a:pt x="5682759" y="0"/>
                </a:lnTo>
                <a:lnTo>
                  <a:pt x="5682759" y="4913988"/>
                </a:lnTo>
                <a:lnTo>
                  <a:pt x="0" y="4913988"/>
                </a:lnTo>
                <a:lnTo>
                  <a:pt x="0" y="0"/>
                </a:lnTo>
                <a:close/>
              </a:path>
            </a:pathLst>
          </a:custGeom>
          <a:blipFill>
            <a:blip r:embed="rId13"/>
            <a:stretch>
              <a:fillRect l="0" t="0" r="0" b="0"/>
            </a:stretch>
          </a:blipFill>
        </p:spPr>
      </p:sp>
      <p:sp>
        <p:nvSpPr>
          <p:cNvPr name="TextBox 9" id="9"/>
          <p:cNvSpPr txBox="true"/>
          <p:nvPr/>
        </p:nvSpPr>
        <p:spPr>
          <a:xfrm rot="0">
            <a:off x="5292667" y="976525"/>
            <a:ext cx="8178833" cy="891252"/>
          </a:xfrm>
          <a:prstGeom prst="rect">
            <a:avLst/>
          </a:prstGeom>
        </p:spPr>
        <p:txBody>
          <a:bodyPr anchor="t" rtlCol="false" tIns="0" lIns="0" bIns="0" rIns="0">
            <a:spAutoFit/>
          </a:bodyPr>
          <a:lstStyle/>
          <a:p>
            <a:pPr algn="l">
              <a:lnSpc>
                <a:spcPts val="6128"/>
              </a:lnSpc>
            </a:pPr>
            <a:r>
              <a:rPr lang="en-US" sz="6317">
                <a:solidFill>
                  <a:srgbClr val="1A513F"/>
                </a:solidFill>
                <a:latin typeface="Some Time Later"/>
                <a:ea typeface="Some Time Later"/>
                <a:cs typeface="Some Time Later"/>
                <a:sym typeface="Some Time Later"/>
              </a:rPr>
              <a:t>       Advantages</a:t>
            </a:r>
          </a:p>
        </p:txBody>
      </p:sp>
      <p:sp>
        <p:nvSpPr>
          <p:cNvPr name="TextBox 10" id="10"/>
          <p:cNvSpPr txBox="true"/>
          <p:nvPr/>
        </p:nvSpPr>
        <p:spPr>
          <a:xfrm rot="0">
            <a:off x="2467252" y="2152245"/>
            <a:ext cx="6952079" cy="5847478"/>
          </a:xfrm>
          <a:prstGeom prst="rect">
            <a:avLst/>
          </a:prstGeom>
        </p:spPr>
        <p:txBody>
          <a:bodyPr anchor="t" rtlCol="false" tIns="0" lIns="0" bIns="0" rIns="0">
            <a:spAutoFit/>
          </a:bodyPr>
          <a:lstStyle/>
          <a:p>
            <a:pPr algn="l" marL="655110" indent="-327555" lvl="1">
              <a:lnSpc>
                <a:spcPts val="4248"/>
              </a:lnSpc>
              <a:buFont typeface="Arial"/>
              <a:buChar char="•"/>
            </a:pPr>
            <a:r>
              <a:rPr lang="en-US" sz="3034" spc="33">
                <a:solidFill>
                  <a:srgbClr val="000500"/>
                </a:solidFill>
                <a:latin typeface="Dekko"/>
                <a:ea typeface="Dekko"/>
                <a:cs typeface="Dekko"/>
                <a:sym typeface="Dekko"/>
              </a:rPr>
              <a:t>Enhances user account security.</a:t>
            </a:r>
          </a:p>
          <a:p>
            <a:pPr algn="l" marL="655110" indent="-327555" lvl="1">
              <a:lnSpc>
                <a:spcPts val="4248"/>
              </a:lnSpc>
              <a:buFont typeface="Arial"/>
              <a:buChar char="•"/>
            </a:pPr>
            <a:r>
              <a:rPr lang="en-US" sz="3034" spc="33">
                <a:solidFill>
                  <a:srgbClr val="000500"/>
                </a:solidFill>
                <a:latin typeface="Dekko"/>
                <a:ea typeface="Dekko"/>
                <a:cs typeface="Dekko"/>
                <a:sym typeface="Dekko"/>
              </a:rPr>
              <a:t>Reduces the risk of unauthorized access.</a:t>
            </a:r>
          </a:p>
          <a:p>
            <a:pPr algn="l" marL="655110" indent="-327555" lvl="1">
              <a:lnSpc>
                <a:spcPts val="4248"/>
              </a:lnSpc>
              <a:buFont typeface="Arial"/>
              <a:buChar char="•"/>
            </a:pPr>
            <a:r>
              <a:rPr lang="en-US" sz="3034" spc="33">
                <a:solidFill>
                  <a:srgbClr val="000500"/>
                </a:solidFill>
                <a:latin typeface="Dekko"/>
                <a:ea typeface="Dekko"/>
                <a:cs typeface="Dekko"/>
                <a:sym typeface="Dekko"/>
              </a:rPr>
              <a:t> Protects against common password attacks (e.g., brute-force attacks).</a:t>
            </a:r>
          </a:p>
          <a:p>
            <a:pPr algn="l" marL="655110" indent="-327555" lvl="1">
              <a:lnSpc>
                <a:spcPts val="4248"/>
              </a:lnSpc>
              <a:buFont typeface="Arial"/>
              <a:buChar char="•"/>
            </a:pPr>
            <a:r>
              <a:rPr lang="en-US" sz="3034" spc="33">
                <a:solidFill>
                  <a:srgbClr val="000500"/>
                </a:solidFill>
                <a:latin typeface="Dekko"/>
                <a:ea typeface="Dekko"/>
                <a:cs typeface="Dekko"/>
                <a:sym typeface="Dekko"/>
              </a:rPr>
              <a:t> Encourages users to create strong and secure passwords.</a:t>
            </a:r>
          </a:p>
          <a:p>
            <a:pPr algn="l" marL="655110" indent="-327555" lvl="1">
              <a:lnSpc>
                <a:spcPts val="4248"/>
              </a:lnSpc>
              <a:buFont typeface="Arial"/>
              <a:buChar char="•"/>
            </a:pPr>
            <a:r>
              <a:rPr lang="en-US" sz="3034" spc="33">
                <a:solidFill>
                  <a:srgbClr val="000500"/>
                </a:solidFill>
                <a:latin typeface="Dekko"/>
                <a:ea typeface="Dekko"/>
                <a:cs typeface="Dekko"/>
                <a:sym typeface="Dekko"/>
              </a:rPr>
              <a:t>Prevents the use of weak and easily guessable passwords.</a:t>
            </a:r>
          </a:p>
          <a:p>
            <a:pPr algn="l" marL="655110" indent="-327555" lvl="1">
              <a:lnSpc>
                <a:spcPts val="4248"/>
              </a:lnSpc>
              <a:buFont typeface="Arial"/>
              <a:buChar char="•"/>
            </a:pPr>
            <a:r>
              <a:rPr lang="en-US" sz="3034" spc="33">
                <a:solidFill>
                  <a:srgbClr val="000500"/>
                </a:solidFill>
                <a:latin typeface="Dekko"/>
                <a:ea typeface="Dekko"/>
                <a:cs typeface="Dekko"/>
                <a:sym typeface="Dekko"/>
              </a:rPr>
              <a:t>Improves the overall security of the authentication system.</a:t>
            </a:r>
          </a:p>
        </p:txBody>
      </p:sp>
      <p:sp>
        <p:nvSpPr>
          <p:cNvPr name="Freeform 11" id="11"/>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4"/>
            <a:stretch>
              <a:fillRect l="0" t="0" r="0" b="0"/>
            </a:stretch>
          </a:blipFill>
        </p:spPr>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1479641" y="264370"/>
            <a:ext cx="3272691" cy="4094562"/>
          </a:xfrm>
          <a:custGeom>
            <a:avLst/>
            <a:gdLst/>
            <a:ahLst/>
            <a:cxnLst/>
            <a:rect r="r" b="b" t="t" l="l"/>
            <a:pathLst>
              <a:path h="4094562" w="3272691">
                <a:moveTo>
                  <a:pt x="0" y="0"/>
                </a:moveTo>
                <a:lnTo>
                  <a:pt x="3272691" y="0"/>
                </a:lnTo>
                <a:lnTo>
                  <a:pt x="3272691" y="4094562"/>
                </a:lnTo>
                <a:lnTo>
                  <a:pt x="0" y="4094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8686" y="7657458"/>
            <a:ext cx="4492975" cy="3257407"/>
          </a:xfrm>
          <a:custGeom>
            <a:avLst/>
            <a:gdLst/>
            <a:ahLst/>
            <a:cxnLst/>
            <a:rect r="r" b="b" t="t" l="l"/>
            <a:pathLst>
              <a:path h="3257407" w="4492975">
                <a:moveTo>
                  <a:pt x="0" y="0"/>
                </a:moveTo>
                <a:lnTo>
                  <a:pt x="4492976" y="0"/>
                </a:lnTo>
                <a:lnTo>
                  <a:pt x="4492976" y="3257406"/>
                </a:lnTo>
                <a:lnTo>
                  <a:pt x="0" y="3257406"/>
                </a:lnTo>
                <a:lnTo>
                  <a:pt x="0" y="0"/>
                </a:lnTo>
                <a:close/>
              </a:path>
            </a:pathLst>
          </a:custGeom>
          <a:blipFill>
            <a:blip r:embed="rId4"/>
            <a:stretch>
              <a:fillRect l="0" t="0" r="0" b="0"/>
            </a:stretch>
          </a:blipFill>
        </p:spPr>
      </p:sp>
      <p:sp>
        <p:nvSpPr>
          <p:cNvPr name="Freeform 4" id="4"/>
          <p:cNvSpPr/>
          <p:nvPr/>
        </p:nvSpPr>
        <p:spPr>
          <a:xfrm flipH="false" flipV="false" rot="0">
            <a:off x="16906477" y="4261739"/>
            <a:ext cx="2063695" cy="1763521"/>
          </a:xfrm>
          <a:custGeom>
            <a:avLst/>
            <a:gdLst/>
            <a:ahLst/>
            <a:cxnLst/>
            <a:rect r="r" b="b" t="t" l="l"/>
            <a:pathLst>
              <a:path h="1763521" w="2063695">
                <a:moveTo>
                  <a:pt x="0" y="0"/>
                </a:moveTo>
                <a:lnTo>
                  <a:pt x="2063695" y="0"/>
                </a:lnTo>
                <a:lnTo>
                  <a:pt x="2063695" y="1763522"/>
                </a:lnTo>
                <a:lnTo>
                  <a:pt x="0" y="1763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10744" y="7335040"/>
            <a:ext cx="3177256" cy="2951960"/>
          </a:xfrm>
          <a:custGeom>
            <a:avLst/>
            <a:gdLst/>
            <a:ahLst/>
            <a:cxnLst/>
            <a:rect r="r" b="b" t="t" l="l"/>
            <a:pathLst>
              <a:path h="2951960" w="3177256">
                <a:moveTo>
                  <a:pt x="0" y="0"/>
                </a:moveTo>
                <a:lnTo>
                  <a:pt x="3177256" y="0"/>
                </a:lnTo>
                <a:lnTo>
                  <a:pt x="3177256" y="2951960"/>
                </a:lnTo>
                <a:lnTo>
                  <a:pt x="0" y="2951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960164" y="8824591"/>
            <a:ext cx="2257985" cy="1707858"/>
          </a:xfrm>
          <a:custGeom>
            <a:avLst/>
            <a:gdLst/>
            <a:ahLst/>
            <a:cxnLst/>
            <a:rect r="r" b="b" t="t" l="l"/>
            <a:pathLst>
              <a:path h="1707858" w="2257985">
                <a:moveTo>
                  <a:pt x="0" y="0"/>
                </a:moveTo>
                <a:lnTo>
                  <a:pt x="2257985" y="0"/>
                </a:lnTo>
                <a:lnTo>
                  <a:pt x="2257985" y="1707857"/>
                </a:lnTo>
                <a:lnTo>
                  <a:pt x="0" y="17078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6285331" y="867753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9876991" y="2209395"/>
            <a:ext cx="5233753" cy="4925885"/>
          </a:xfrm>
          <a:custGeom>
            <a:avLst/>
            <a:gdLst/>
            <a:ahLst/>
            <a:cxnLst/>
            <a:rect r="r" b="b" t="t" l="l"/>
            <a:pathLst>
              <a:path h="4925885" w="5233753">
                <a:moveTo>
                  <a:pt x="0" y="0"/>
                </a:moveTo>
                <a:lnTo>
                  <a:pt x="5233753" y="0"/>
                </a:lnTo>
                <a:lnTo>
                  <a:pt x="5233753" y="4925885"/>
                </a:lnTo>
                <a:lnTo>
                  <a:pt x="0" y="4925885"/>
                </a:lnTo>
                <a:lnTo>
                  <a:pt x="0" y="0"/>
                </a:lnTo>
                <a:close/>
              </a:path>
            </a:pathLst>
          </a:custGeom>
          <a:blipFill>
            <a:blip r:embed="rId13"/>
            <a:stretch>
              <a:fillRect l="0" t="0" r="0" b="0"/>
            </a:stretch>
          </a:blipFill>
        </p:spPr>
      </p:sp>
      <p:sp>
        <p:nvSpPr>
          <p:cNvPr name="TextBox 9" id="9"/>
          <p:cNvSpPr txBox="true"/>
          <p:nvPr/>
        </p:nvSpPr>
        <p:spPr>
          <a:xfrm rot="0">
            <a:off x="5306952" y="1083064"/>
            <a:ext cx="8178833" cy="891252"/>
          </a:xfrm>
          <a:prstGeom prst="rect">
            <a:avLst/>
          </a:prstGeom>
        </p:spPr>
        <p:txBody>
          <a:bodyPr anchor="t" rtlCol="false" tIns="0" lIns="0" bIns="0" rIns="0">
            <a:spAutoFit/>
          </a:bodyPr>
          <a:lstStyle/>
          <a:p>
            <a:pPr algn="l">
              <a:lnSpc>
                <a:spcPts val="6128"/>
              </a:lnSpc>
            </a:pPr>
            <a:r>
              <a:rPr lang="en-US" sz="6317">
                <a:solidFill>
                  <a:srgbClr val="1A513F"/>
                </a:solidFill>
                <a:latin typeface="Some Time Later"/>
                <a:ea typeface="Some Time Later"/>
                <a:cs typeface="Some Time Later"/>
                <a:sym typeface="Some Time Later"/>
              </a:rPr>
              <a:t>     Disadvantages</a:t>
            </a:r>
          </a:p>
        </p:txBody>
      </p:sp>
      <p:sp>
        <p:nvSpPr>
          <p:cNvPr name="TextBox 10" id="10"/>
          <p:cNvSpPr txBox="true"/>
          <p:nvPr/>
        </p:nvSpPr>
        <p:spPr>
          <a:xfrm rot="0">
            <a:off x="2467252" y="2152245"/>
            <a:ext cx="6952079" cy="5847478"/>
          </a:xfrm>
          <a:prstGeom prst="rect">
            <a:avLst/>
          </a:prstGeom>
        </p:spPr>
        <p:txBody>
          <a:bodyPr anchor="t" rtlCol="false" tIns="0" lIns="0" bIns="0" rIns="0">
            <a:spAutoFit/>
          </a:bodyPr>
          <a:lstStyle/>
          <a:p>
            <a:pPr algn="l" marL="655110" indent="-327555" lvl="1">
              <a:lnSpc>
                <a:spcPts val="4248"/>
              </a:lnSpc>
              <a:buFont typeface="Arial"/>
              <a:buChar char="•"/>
            </a:pPr>
            <a:r>
              <a:rPr lang="en-US" sz="3034" spc="33">
                <a:solidFill>
                  <a:srgbClr val="000500"/>
                </a:solidFill>
                <a:latin typeface="Dekko"/>
                <a:ea typeface="Dekko"/>
                <a:cs typeface="Dekko"/>
                <a:sym typeface="Dekko"/>
              </a:rPr>
              <a:t>Users may find strong passwords difficult to remember.</a:t>
            </a:r>
          </a:p>
          <a:p>
            <a:pPr algn="l" marL="655110" indent="-327555" lvl="1">
              <a:lnSpc>
                <a:spcPts val="4248"/>
              </a:lnSpc>
              <a:buFont typeface="Arial"/>
              <a:buChar char="•"/>
            </a:pPr>
            <a:r>
              <a:rPr lang="en-US" sz="3034" spc="33">
                <a:solidFill>
                  <a:srgbClr val="000500"/>
                </a:solidFill>
                <a:latin typeface="Dekko"/>
                <a:ea typeface="Dekko"/>
                <a:cs typeface="Dekko"/>
                <a:sym typeface="Dekko"/>
              </a:rPr>
              <a:t> Password creation becomes more time-consuming.</a:t>
            </a:r>
          </a:p>
          <a:p>
            <a:pPr algn="l" marL="655110" indent="-327555" lvl="1">
              <a:lnSpc>
                <a:spcPts val="4248"/>
              </a:lnSpc>
              <a:buFont typeface="Arial"/>
              <a:buChar char="•"/>
            </a:pPr>
            <a:r>
              <a:rPr lang="en-US" sz="3034" spc="33">
                <a:solidFill>
                  <a:srgbClr val="000500"/>
                </a:solidFill>
                <a:latin typeface="Dekko"/>
                <a:ea typeface="Dekko"/>
                <a:cs typeface="Dekko"/>
                <a:sym typeface="Dekko"/>
              </a:rPr>
              <a:t> Users may forget complex passwords and need frequent resets.</a:t>
            </a:r>
          </a:p>
          <a:p>
            <a:pPr algn="l" marL="655110" indent="-327555" lvl="1">
              <a:lnSpc>
                <a:spcPts val="4248"/>
              </a:lnSpc>
              <a:buFont typeface="Arial"/>
              <a:buChar char="•"/>
            </a:pPr>
            <a:r>
              <a:rPr lang="en-US" sz="3034" spc="33">
                <a:solidFill>
                  <a:srgbClr val="000500"/>
                </a:solidFill>
                <a:latin typeface="Dekko"/>
                <a:ea typeface="Dekko"/>
                <a:cs typeface="Dekko"/>
                <a:sym typeface="Dekko"/>
              </a:rPr>
              <a:t> Strict password rules can reduce user convenience.</a:t>
            </a:r>
          </a:p>
          <a:p>
            <a:pPr algn="l" marL="655110" indent="-327555" lvl="1">
              <a:lnSpc>
                <a:spcPts val="4248"/>
              </a:lnSpc>
              <a:buFont typeface="Arial"/>
              <a:buChar char="•"/>
            </a:pPr>
            <a:r>
              <a:rPr lang="en-US" sz="3034" spc="33">
                <a:solidFill>
                  <a:srgbClr val="000500"/>
                </a:solidFill>
                <a:latin typeface="Dekko"/>
                <a:ea typeface="Dekko"/>
                <a:cs typeface="Dekko"/>
                <a:sym typeface="Dekko"/>
              </a:rPr>
              <a:t> Some users may write down passwords, creating additional security risks.</a:t>
            </a:r>
          </a:p>
        </p:txBody>
      </p:sp>
      <p:sp>
        <p:nvSpPr>
          <p:cNvPr name="Freeform 11" id="11"/>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4"/>
            <a:stretch>
              <a:fillRect l="0" t="0" r="0" b="0"/>
            </a:stretch>
          </a:blipFill>
        </p:spPr>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1479641" y="264370"/>
            <a:ext cx="3272691" cy="4094562"/>
          </a:xfrm>
          <a:custGeom>
            <a:avLst/>
            <a:gdLst/>
            <a:ahLst/>
            <a:cxnLst/>
            <a:rect r="r" b="b" t="t" l="l"/>
            <a:pathLst>
              <a:path h="4094562" w="3272691">
                <a:moveTo>
                  <a:pt x="0" y="0"/>
                </a:moveTo>
                <a:lnTo>
                  <a:pt x="3272691" y="0"/>
                </a:lnTo>
                <a:lnTo>
                  <a:pt x="3272691" y="4094562"/>
                </a:lnTo>
                <a:lnTo>
                  <a:pt x="0" y="4094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8686" y="7657458"/>
            <a:ext cx="4492975" cy="3257407"/>
          </a:xfrm>
          <a:custGeom>
            <a:avLst/>
            <a:gdLst/>
            <a:ahLst/>
            <a:cxnLst/>
            <a:rect r="r" b="b" t="t" l="l"/>
            <a:pathLst>
              <a:path h="3257407" w="4492975">
                <a:moveTo>
                  <a:pt x="0" y="0"/>
                </a:moveTo>
                <a:lnTo>
                  <a:pt x="4492976" y="0"/>
                </a:lnTo>
                <a:lnTo>
                  <a:pt x="4492976" y="3257406"/>
                </a:lnTo>
                <a:lnTo>
                  <a:pt x="0" y="3257406"/>
                </a:lnTo>
                <a:lnTo>
                  <a:pt x="0" y="0"/>
                </a:lnTo>
                <a:close/>
              </a:path>
            </a:pathLst>
          </a:custGeom>
          <a:blipFill>
            <a:blip r:embed="rId4"/>
            <a:stretch>
              <a:fillRect l="0" t="0" r="0" b="0"/>
            </a:stretch>
          </a:blipFill>
        </p:spPr>
      </p:sp>
      <p:sp>
        <p:nvSpPr>
          <p:cNvPr name="Freeform 4" id="4"/>
          <p:cNvSpPr/>
          <p:nvPr/>
        </p:nvSpPr>
        <p:spPr>
          <a:xfrm flipH="false" flipV="false" rot="0">
            <a:off x="16906477" y="4261739"/>
            <a:ext cx="2063695" cy="1763521"/>
          </a:xfrm>
          <a:custGeom>
            <a:avLst/>
            <a:gdLst/>
            <a:ahLst/>
            <a:cxnLst/>
            <a:rect r="r" b="b" t="t" l="l"/>
            <a:pathLst>
              <a:path h="1763521" w="2063695">
                <a:moveTo>
                  <a:pt x="0" y="0"/>
                </a:moveTo>
                <a:lnTo>
                  <a:pt x="2063695" y="0"/>
                </a:lnTo>
                <a:lnTo>
                  <a:pt x="2063695" y="1763522"/>
                </a:lnTo>
                <a:lnTo>
                  <a:pt x="0" y="1763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10744" y="7335040"/>
            <a:ext cx="3177256" cy="2951960"/>
          </a:xfrm>
          <a:custGeom>
            <a:avLst/>
            <a:gdLst/>
            <a:ahLst/>
            <a:cxnLst/>
            <a:rect r="r" b="b" t="t" l="l"/>
            <a:pathLst>
              <a:path h="2951960" w="3177256">
                <a:moveTo>
                  <a:pt x="0" y="0"/>
                </a:moveTo>
                <a:lnTo>
                  <a:pt x="3177256" y="0"/>
                </a:lnTo>
                <a:lnTo>
                  <a:pt x="3177256" y="2951960"/>
                </a:lnTo>
                <a:lnTo>
                  <a:pt x="0" y="2951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960164" y="8824591"/>
            <a:ext cx="2257985" cy="1707858"/>
          </a:xfrm>
          <a:custGeom>
            <a:avLst/>
            <a:gdLst/>
            <a:ahLst/>
            <a:cxnLst/>
            <a:rect r="r" b="b" t="t" l="l"/>
            <a:pathLst>
              <a:path h="1707858" w="2257985">
                <a:moveTo>
                  <a:pt x="0" y="0"/>
                </a:moveTo>
                <a:lnTo>
                  <a:pt x="2257985" y="0"/>
                </a:lnTo>
                <a:lnTo>
                  <a:pt x="2257985" y="1707857"/>
                </a:lnTo>
                <a:lnTo>
                  <a:pt x="0" y="17078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6285331" y="867753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3"/>
            <a:stretch>
              <a:fillRect l="0" t="0" r="0" b="0"/>
            </a:stretch>
          </a:blipFill>
        </p:spPr>
      </p:sp>
      <p:sp>
        <p:nvSpPr>
          <p:cNvPr name="Freeform 9" id="9"/>
          <p:cNvSpPr/>
          <p:nvPr/>
        </p:nvSpPr>
        <p:spPr>
          <a:xfrm flipH="false" flipV="false" rot="0">
            <a:off x="11961118" y="1699823"/>
            <a:ext cx="2172967" cy="1499128"/>
          </a:xfrm>
          <a:custGeom>
            <a:avLst/>
            <a:gdLst/>
            <a:ahLst/>
            <a:cxnLst/>
            <a:rect r="r" b="b" t="t" l="l"/>
            <a:pathLst>
              <a:path h="1499128" w="2172967">
                <a:moveTo>
                  <a:pt x="0" y="0"/>
                </a:moveTo>
                <a:lnTo>
                  <a:pt x="2172967" y="0"/>
                </a:lnTo>
                <a:lnTo>
                  <a:pt x="2172967" y="1499128"/>
                </a:lnTo>
                <a:lnTo>
                  <a:pt x="0" y="1499128"/>
                </a:lnTo>
                <a:lnTo>
                  <a:pt x="0" y="0"/>
                </a:lnTo>
                <a:close/>
              </a:path>
            </a:pathLst>
          </a:custGeom>
          <a:blipFill>
            <a:blip r:embed="rId14"/>
            <a:stretch>
              <a:fillRect l="0" t="0" r="0" b="0"/>
            </a:stretch>
          </a:blipFill>
        </p:spPr>
      </p:sp>
      <p:sp>
        <p:nvSpPr>
          <p:cNvPr name="Freeform 10" id="10"/>
          <p:cNvSpPr/>
          <p:nvPr/>
        </p:nvSpPr>
        <p:spPr>
          <a:xfrm flipH="false" flipV="false" rot="0">
            <a:off x="3562754" y="4055293"/>
            <a:ext cx="2310828" cy="1443693"/>
          </a:xfrm>
          <a:custGeom>
            <a:avLst/>
            <a:gdLst/>
            <a:ahLst/>
            <a:cxnLst/>
            <a:rect r="r" b="b" t="t" l="l"/>
            <a:pathLst>
              <a:path h="1443693" w="2310828">
                <a:moveTo>
                  <a:pt x="0" y="0"/>
                </a:moveTo>
                <a:lnTo>
                  <a:pt x="2310828" y="0"/>
                </a:lnTo>
                <a:lnTo>
                  <a:pt x="2310828" y="1443692"/>
                </a:lnTo>
                <a:lnTo>
                  <a:pt x="0" y="1443692"/>
                </a:lnTo>
                <a:lnTo>
                  <a:pt x="0" y="0"/>
                </a:lnTo>
                <a:close/>
              </a:path>
            </a:pathLst>
          </a:custGeom>
          <a:blipFill>
            <a:blip r:embed="rId15"/>
            <a:stretch>
              <a:fillRect l="0" t="-1235" r="0" b="-1235"/>
            </a:stretch>
          </a:blipFill>
        </p:spPr>
      </p:sp>
      <p:sp>
        <p:nvSpPr>
          <p:cNvPr name="Freeform 11" id="11"/>
          <p:cNvSpPr/>
          <p:nvPr/>
        </p:nvSpPr>
        <p:spPr>
          <a:xfrm flipH="false" flipV="false" rot="0">
            <a:off x="11637127" y="6025261"/>
            <a:ext cx="1801815" cy="1798539"/>
          </a:xfrm>
          <a:custGeom>
            <a:avLst/>
            <a:gdLst/>
            <a:ahLst/>
            <a:cxnLst/>
            <a:rect r="r" b="b" t="t" l="l"/>
            <a:pathLst>
              <a:path h="1798539" w="1801815">
                <a:moveTo>
                  <a:pt x="0" y="0"/>
                </a:moveTo>
                <a:lnTo>
                  <a:pt x="1801814" y="0"/>
                </a:lnTo>
                <a:lnTo>
                  <a:pt x="1801814" y="1798538"/>
                </a:lnTo>
                <a:lnTo>
                  <a:pt x="0" y="179853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3611198" y="1656585"/>
            <a:ext cx="8025928" cy="1585605"/>
          </a:xfrm>
          <a:custGeom>
            <a:avLst/>
            <a:gdLst/>
            <a:ahLst/>
            <a:cxnLst/>
            <a:rect r="r" b="b" t="t" l="l"/>
            <a:pathLst>
              <a:path h="1585605" w="8025928">
                <a:moveTo>
                  <a:pt x="0" y="0"/>
                </a:moveTo>
                <a:lnTo>
                  <a:pt x="8025929" y="0"/>
                </a:lnTo>
                <a:lnTo>
                  <a:pt x="8025929" y="1585605"/>
                </a:lnTo>
                <a:lnTo>
                  <a:pt x="0" y="1585605"/>
                </a:lnTo>
                <a:lnTo>
                  <a:pt x="0" y="0"/>
                </a:lnTo>
                <a:close/>
              </a:path>
            </a:pathLst>
          </a:custGeom>
          <a:blipFill>
            <a:blip r:embed="rId18"/>
            <a:stretch>
              <a:fillRect l="0" t="-111940" r="0" b="-72782"/>
            </a:stretch>
          </a:blipFill>
        </p:spPr>
      </p:sp>
      <p:sp>
        <p:nvSpPr>
          <p:cNvPr name="Freeform 13" id="13"/>
          <p:cNvSpPr/>
          <p:nvPr/>
        </p:nvSpPr>
        <p:spPr>
          <a:xfrm flipH="false" flipV="false" rot="0">
            <a:off x="6494612" y="4032330"/>
            <a:ext cx="7342417" cy="1560777"/>
          </a:xfrm>
          <a:custGeom>
            <a:avLst/>
            <a:gdLst/>
            <a:ahLst/>
            <a:cxnLst/>
            <a:rect r="r" b="b" t="t" l="l"/>
            <a:pathLst>
              <a:path h="1560777" w="7342417">
                <a:moveTo>
                  <a:pt x="0" y="0"/>
                </a:moveTo>
                <a:lnTo>
                  <a:pt x="7342417" y="0"/>
                </a:lnTo>
                <a:lnTo>
                  <a:pt x="7342417" y="1560777"/>
                </a:lnTo>
                <a:lnTo>
                  <a:pt x="0" y="1560777"/>
                </a:lnTo>
                <a:lnTo>
                  <a:pt x="0" y="0"/>
                </a:lnTo>
                <a:close/>
              </a:path>
            </a:pathLst>
          </a:custGeom>
          <a:blipFill>
            <a:blip r:embed="rId18"/>
            <a:stretch>
              <a:fillRect l="0" t="-77295" r="0" b="-87323"/>
            </a:stretch>
          </a:blipFill>
        </p:spPr>
      </p:sp>
      <p:sp>
        <p:nvSpPr>
          <p:cNvPr name="Freeform 14" id="14"/>
          <p:cNvSpPr/>
          <p:nvPr/>
        </p:nvSpPr>
        <p:spPr>
          <a:xfrm flipH="false" flipV="false" rot="0">
            <a:off x="3233079" y="6154167"/>
            <a:ext cx="7688637" cy="1669632"/>
          </a:xfrm>
          <a:custGeom>
            <a:avLst/>
            <a:gdLst/>
            <a:ahLst/>
            <a:cxnLst/>
            <a:rect r="r" b="b" t="t" l="l"/>
            <a:pathLst>
              <a:path h="1669632" w="7688637">
                <a:moveTo>
                  <a:pt x="0" y="0"/>
                </a:moveTo>
                <a:lnTo>
                  <a:pt x="7688636" y="0"/>
                </a:lnTo>
                <a:lnTo>
                  <a:pt x="7688636" y="1669632"/>
                </a:lnTo>
                <a:lnTo>
                  <a:pt x="0" y="1669632"/>
                </a:lnTo>
                <a:lnTo>
                  <a:pt x="0" y="0"/>
                </a:lnTo>
                <a:close/>
              </a:path>
            </a:pathLst>
          </a:custGeom>
          <a:blipFill>
            <a:blip r:embed="rId18"/>
            <a:stretch>
              <a:fillRect l="0" t="-82775" r="0" b="-76255"/>
            </a:stretch>
          </a:blipFill>
        </p:spPr>
      </p:sp>
      <p:sp>
        <p:nvSpPr>
          <p:cNvPr name="TextBox 15" id="15"/>
          <p:cNvSpPr txBox="true"/>
          <p:nvPr/>
        </p:nvSpPr>
        <p:spPr>
          <a:xfrm rot="0">
            <a:off x="5162370" y="374478"/>
            <a:ext cx="8178833" cy="891252"/>
          </a:xfrm>
          <a:prstGeom prst="rect">
            <a:avLst/>
          </a:prstGeom>
        </p:spPr>
        <p:txBody>
          <a:bodyPr anchor="t" rtlCol="false" tIns="0" lIns="0" bIns="0" rIns="0">
            <a:spAutoFit/>
          </a:bodyPr>
          <a:lstStyle/>
          <a:p>
            <a:pPr algn="l">
              <a:lnSpc>
                <a:spcPts val="6128"/>
              </a:lnSpc>
            </a:pPr>
            <a:r>
              <a:rPr lang="en-US" sz="6317">
                <a:solidFill>
                  <a:srgbClr val="1A513F"/>
                </a:solidFill>
                <a:latin typeface="Some Time Later"/>
                <a:ea typeface="Some Time Later"/>
                <a:cs typeface="Some Time Later"/>
                <a:sym typeface="Some Time Later"/>
              </a:rPr>
              <a:t>      Future Scope</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17" id="17"/>
          <p:cNvSpPr txBox="true"/>
          <p:nvPr/>
        </p:nvSpPr>
        <p:spPr>
          <a:xfrm rot="0">
            <a:off x="3287207" y="1825817"/>
            <a:ext cx="8673911" cy="1180465"/>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          </a:t>
            </a:r>
            <a:r>
              <a:rPr lang="en-US" sz="3399">
                <a:solidFill>
                  <a:srgbClr val="FFFFFF"/>
                </a:solidFill>
                <a:latin typeface="Canva Sans"/>
                <a:ea typeface="Canva Sans"/>
                <a:cs typeface="Canva Sans"/>
                <a:sym typeface="Canva Sans"/>
              </a:rPr>
              <a:t>   Stronger Password Encryption </a:t>
            </a:r>
          </a:p>
          <a:p>
            <a:pPr algn="ctr">
              <a:lnSpc>
                <a:spcPts val="4759"/>
              </a:lnSpc>
            </a:pPr>
            <a:r>
              <a:rPr lang="en-US" sz="3399">
                <a:solidFill>
                  <a:srgbClr val="FFFFFF"/>
                </a:solidFill>
                <a:latin typeface="Canva Sans"/>
                <a:ea typeface="Canva Sans"/>
                <a:cs typeface="Canva Sans"/>
                <a:sym typeface="Canva Sans"/>
              </a:rPr>
              <a:t>(SHA-256 / bcrypt)</a:t>
            </a:r>
          </a:p>
        </p:txBody>
      </p:sp>
      <p:sp>
        <p:nvSpPr>
          <p:cNvPr name="TextBox 18" id="18"/>
          <p:cNvSpPr txBox="true"/>
          <p:nvPr/>
        </p:nvSpPr>
        <p:spPr>
          <a:xfrm rot="0">
            <a:off x="5820442" y="4121195"/>
            <a:ext cx="8690756" cy="1180465"/>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Secure Database Integration </a:t>
            </a:r>
          </a:p>
          <a:p>
            <a:pPr algn="ctr">
              <a:lnSpc>
                <a:spcPts val="4759"/>
              </a:lnSpc>
            </a:pPr>
            <a:r>
              <a:rPr lang="en-US" sz="3399">
                <a:solidFill>
                  <a:srgbClr val="FFFFFF"/>
                </a:solidFill>
                <a:latin typeface="Canva Sans"/>
                <a:ea typeface="Canva Sans"/>
                <a:cs typeface="Canva Sans"/>
                <a:sym typeface="Canva Sans"/>
              </a:rPr>
              <a:t>(MySQL / SQLite)</a:t>
            </a:r>
          </a:p>
        </p:txBody>
      </p:sp>
      <p:sp>
        <p:nvSpPr>
          <p:cNvPr name="TextBox 19" id="19"/>
          <p:cNvSpPr txBox="true"/>
          <p:nvPr/>
        </p:nvSpPr>
        <p:spPr>
          <a:xfrm rot="0">
            <a:off x="2600859" y="6393040"/>
            <a:ext cx="8690756" cy="1180465"/>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Real-Time IP Tracking &amp; Network Monitoring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Freeform 2" id="2"/>
          <p:cNvSpPr/>
          <p:nvPr/>
        </p:nvSpPr>
        <p:spPr>
          <a:xfrm flipH="false" flipV="false" rot="0">
            <a:off x="-1479641" y="264370"/>
            <a:ext cx="3272691" cy="4094562"/>
          </a:xfrm>
          <a:custGeom>
            <a:avLst/>
            <a:gdLst/>
            <a:ahLst/>
            <a:cxnLst/>
            <a:rect r="r" b="b" t="t" l="l"/>
            <a:pathLst>
              <a:path h="4094562" w="3272691">
                <a:moveTo>
                  <a:pt x="0" y="0"/>
                </a:moveTo>
                <a:lnTo>
                  <a:pt x="3272691" y="0"/>
                </a:lnTo>
                <a:lnTo>
                  <a:pt x="3272691" y="4094562"/>
                </a:lnTo>
                <a:lnTo>
                  <a:pt x="0" y="4094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8686" y="7657458"/>
            <a:ext cx="4492975" cy="3257407"/>
          </a:xfrm>
          <a:custGeom>
            <a:avLst/>
            <a:gdLst/>
            <a:ahLst/>
            <a:cxnLst/>
            <a:rect r="r" b="b" t="t" l="l"/>
            <a:pathLst>
              <a:path h="3257407" w="4492975">
                <a:moveTo>
                  <a:pt x="0" y="0"/>
                </a:moveTo>
                <a:lnTo>
                  <a:pt x="4492976" y="0"/>
                </a:lnTo>
                <a:lnTo>
                  <a:pt x="4492976" y="3257406"/>
                </a:lnTo>
                <a:lnTo>
                  <a:pt x="0" y="3257406"/>
                </a:lnTo>
                <a:lnTo>
                  <a:pt x="0" y="0"/>
                </a:lnTo>
                <a:close/>
              </a:path>
            </a:pathLst>
          </a:custGeom>
          <a:blipFill>
            <a:blip r:embed="rId4"/>
            <a:stretch>
              <a:fillRect l="0" t="0" r="0" b="0"/>
            </a:stretch>
          </a:blipFill>
        </p:spPr>
      </p:sp>
      <p:sp>
        <p:nvSpPr>
          <p:cNvPr name="Freeform 4" id="4"/>
          <p:cNvSpPr/>
          <p:nvPr/>
        </p:nvSpPr>
        <p:spPr>
          <a:xfrm flipH="false" flipV="false" rot="0">
            <a:off x="16906477" y="4261739"/>
            <a:ext cx="2063695" cy="1763521"/>
          </a:xfrm>
          <a:custGeom>
            <a:avLst/>
            <a:gdLst/>
            <a:ahLst/>
            <a:cxnLst/>
            <a:rect r="r" b="b" t="t" l="l"/>
            <a:pathLst>
              <a:path h="1763521" w="2063695">
                <a:moveTo>
                  <a:pt x="0" y="0"/>
                </a:moveTo>
                <a:lnTo>
                  <a:pt x="2063695" y="0"/>
                </a:lnTo>
                <a:lnTo>
                  <a:pt x="2063695" y="1763522"/>
                </a:lnTo>
                <a:lnTo>
                  <a:pt x="0" y="1763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10744" y="7335040"/>
            <a:ext cx="3177256" cy="2951960"/>
          </a:xfrm>
          <a:custGeom>
            <a:avLst/>
            <a:gdLst/>
            <a:ahLst/>
            <a:cxnLst/>
            <a:rect r="r" b="b" t="t" l="l"/>
            <a:pathLst>
              <a:path h="2951960" w="3177256">
                <a:moveTo>
                  <a:pt x="0" y="0"/>
                </a:moveTo>
                <a:lnTo>
                  <a:pt x="3177256" y="0"/>
                </a:lnTo>
                <a:lnTo>
                  <a:pt x="3177256" y="2951960"/>
                </a:lnTo>
                <a:lnTo>
                  <a:pt x="0" y="2951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960164" y="8824591"/>
            <a:ext cx="2257985" cy="1707858"/>
          </a:xfrm>
          <a:custGeom>
            <a:avLst/>
            <a:gdLst/>
            <a:ahLst/>
            <a:cxnLst/>
            <a:rect r="r" b="b" t="t" l="l"/>
            <a:pathLst>
              <a:path h="1707858" w="2257985">
                <a:moveTo>
                  <a:pt x="0" y="0"/>
                </a:moveTo>
                <a:lnTo>
                  <a:pt x="2257985" y="0"/>
                </a:lnTo>
                <a:lnTo>
                  <a:pt x="2257985" y="1707857"/>
                </a:lnTo>
                <a:lnTo>
                  <a:pt x="0" y="17078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6285331" y="8677538"/>
            <a:ext cx="1865083" cy="1854910"/>
          </a:xfrm>
          <a:custGeom>
            <a:avLst/>
            <a:gdLst/>
            <a:ahLst/>
            <a:cxnLst/>
            <a:rect r="r" b="b" t="t" l="l"/>
            <a:pathLst>
              <a:path h="1854910" w="1865083">
                <a:moveTo>
                  <a:pt x="0" y="0"/>
                </a:moveTo>
                <a:lnTo>
                  <a:pt x="1865083" y="0"/>
                </a:lnTo>
                <a:lnTo>
                  <a:pt x="1865083" y="1854910"/>
                </a:lnTo>
                <a:lnTo>
                  <a:pt x="0" y="18549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3475896" y="2788244"/>
            <a:ext cx="10910297" cy="4696858"/>
          </a:xfrm>
          <a:prstGeom prst="rect">
            <a:avLst/>
          </a:prstGeom>
        </p:spPr>
        <p:txBody>
          <a:bodyPr anchor="t" rtlCol="false" tIns="0" lIns="0" bIns="0" rIns="0">
            <a:spAutoFit/>
          </a:bodyPr>
          <a:lstStyle/>
          <a:p>
            <a:pPr algn="l">
              <a:lnSpc>
                <a:spcPts val="4668"/>
              </a:lnSpc>
            </a:pPr>
            <a:r>
              <a:rPr lang="en-US" sz="3334" spc="36">
                <a:solidFill>
                  <a:srgbClr val="000500"/>
                </a:solidFill>
                <a:latin typeface="Dekko"/>
                <a:ea typeface="Dekko"/>
                <a:cs typeface="Dekko"/>
                <a:sym typeface="Dekko"/>
              </a:rPr>
              <a:t>ThreatGuard is a lightweight Intrusion Detection and Secure Authentication System developed using C++. It provides secure user registration, password validation, password hashing, login authentication, activity logging, and threat detection. By monitoring failed login attempts and suspicious activities, the system improves overall security and demonstrates fundamental cybersecurity concepts in a simple and effective manner.</a:t>
            </a:r>
          </a:p>
        </p:txBody>
      </p:sp>
      <p:sp>
        <p:nvSpPr>
          <p:cNvPr name="TextBox 9" id="9"/>
          <p:cNvSpPr txBox="true"/>
          <p:nvPr/>
        </p:nvSpPr>
        <p:spPr>
          <a:xfrm rot="0">
            <a:off x="5054584" y="1095375"/>
            <a:ext cx="8178833" cy="891252"/>
          </a:xfrm>
          <a:prstGeom prst="rect">
            <a:avLst/>
          </a:prstGeom>
        </p:spPr>
        <p:txBody>
          <a:bodyPr anchor="t" rtlCol="false" tIns="0" lIns="0" bIns="0" rIns="0">
            <a:spAutoFit/>
          </a:bodyPr>
          <a:lstStyle/>
          <a:p>
            <a:pPr algn="l">
              <a:lnSpc>
                <a:spcPts val="6128"/>
              </a:lnSpc>
            </a:pPr>
            <a:r>
              <a:rPr lang="en-US" sz="6317">
                <a:solidFill>
                  <a:srgbClr val="1A513F"/>
                </a:solidFill>
                <a:latin typeface="Some Time Later"/>
                <a:ea typeface="Some Time Later"/>
                <a:cs typeface="Some Time Later"/>
                <a:sym typeface="Some Time Later"/>
              </a:rPr>
              <a:t>        Conclusion</a:t>
            </a:r>
          </a:p>
        </p:txBody>
      </p:sp>
      <p:sp>
        <p:nvSpPr>
          <p:cNvPr name="Freeform 10" id="10"/>
          <p:cNvSpPr/>
          <p:nvPr/>
        </p:nvSpPr>
        <p:spPr>
          <a:xfrm flipH="false" flipV="false" rot="0">
            <a:off x="16710524" y="0"/>
            <a:ext cx="1577476" cy="1573532"/>
          </a:xfrm>
          <a:custGeom>
            <a:avLst/>
            <a:gdLst/>
            <a:ahLst/>
            <a:cxnLst/>
            <a:rect r="r" b="b" t="t" l="l"/>
            <a:pathLst>
              <a:path h="1573532" w="1577476">
                <a:moveTo>
                  <a:pt x="0" y="0"/>
                </a:moveTo>
                <a:lnTo>
                  <a:pt x="1577476" y="0"/>
                </a:lnTo>
                <a:lnTo>
                  <a:pt x="1577476" y="1573532"/>
                </a:lnTo>
                <a:lnTo>
                  <a:pt x="0" y="1573532"/>
                </a:lnTo>
                <a:lnTo>
                  <a:pt x="0" y="0"/>
                </a:lnTo>
                <a:close/>
              </a:path>
            </a:pathLst>
          </a:custGeom>
          <a:blipFill>
            <a:blip r:embed="rId13"/>
            <a:stretch>
              <a:fillRect l="0" t="0" r="0" b="0"/>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4E9FF"/>
        </a:solidFill>
      </p:bgPr>
    </p:bg>
    <p:spTree>
      <p:nvGrpSpPr>
        <p:cNvPr id="1" name=""/>
        <p:cNvGrpSpPr/>
        <p:nvPr/>
      </p:nvGrpSpPr>
      <p:grpSpPr>
        <a:xfrm>
          <a:off x="0" y="0"/>
          <a:ext cx="0" cy="0"/>
          <a:chOff x="0" y="0"/>
          <a:chExt cx="0" cy="0"/>
        </a:xfrm>
      </p:grpSpPr>
      <p:sp>
        <p:nvSpPr>
          <p:cNvPr name="TextBox 2" id="2"/>
          <p:cNvSpPr txBox="true"/>
          <p:nvPr/>
        </p:nvSpPr>
        <p:spPr>
          <a:xfrm rot="0">
            <a:off x="4630267" y="291201"/>
            <a:ext cx="8350063" cy="2966107"/>
          </a:xfrm>
          <a:prstGeom prst="rect">
            <a:avLst/>
          </a:prstGeom>
        </p:spPr>
        <p:txBody>
          <a:bodyPr anchor="t" rtlCol="false" tIns="0" lIns="0" bIns="0" rIns="0">
            <a:spAutoFit/>
          </a:bodyPr>
          <a:lstStyle/>
          <a:p>
            <a:pPr algn="ctr">
              <a:lnSpc>
                <a:spcPts val="10941"/>
              </a:lnSpc>
            </a:pPr>
            <a:r>
              <a:rPr lang="en-US" sz="11279">
                <a:solidFill>
                  <a:srgbClr val="1A513F"/>
                </a:solidFill>
                <a:latin typeface="Some Time Later"/>
                <a:ea typeface="Some Time Later"/>
                <a:cs typeface="Some Time Later"/>
                <a:sym typeface="Some Time Later"/>
              </a:rPr>
              <a:t>Thank </a:t>
            </a:r>
          </a:p>
          <a:p>
            <a:pPr algn="ctr">
              <a:lnSpc>
                <a:spcPts val="10941"/>
              </a:lnSpc>
            </a:pPr>
            <a:r>
              <a:rPr lang="en-US" sz="11279">
                <a:solidFill>
                  <a:srgbClr val="1A513F"/>
                </a:solidFill>
                <a:latin typeface="Some Time Later"/>
                <a:ea typeface="Some Time Later"/>
                <a:cs typeface="Some Time Later"/>
                <a:sym typeface="Some Time Later"/>
              </a:rPr>
              <a:t>You Everyone</a:t>
            </a:r>
          </a:p>
        </p:txBody>
      </p:sp>
      <p:sp>
        <p:nvSpPr>
          <p:cNvPr name="Freeform 3" id="3"/>
          <p:cNvSpPr/>
          <p:nvPr/>
        </p:nvSpPr>
        <p:spPr>
          <a:xfrm flipH="false" flipV="false" rot="0">
            <a:off x="8532091" y="8821423"/>
            <a:ext cx="2634134" cy="3295644"/>
          </a:xfrm>
          <a:custGeom>
            <a:avLst/>
            <a:gdLst/>
            <a:ahLst/>
            <a:cxnLst/>
            <a:rect r="r" b="b" t="t" l="l"/>
            <a:pathLst>
              <a:path h="3295644" w="2634134">
                <a:moveTo>
                  <a:pt x="0" y="0"/>
                </a:moveTo>
                <a:lnTo>
                  <a:pt x="2634134" y="0"/>
                </a:lnTo>
                <a:lnTo>
                  <a:pt x="2634134" y="3295644"/>
                </a:lnTo>
                <a:lnTo>
                  <a:pt x="0" y="3295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989012" y="8257519"/>
            <a:ext cx="2477092" cy="2301443"/>
          </a:xfrm>
          <a:custGeom>
            <a:avLst/>
            <a:gdLst/>
            <a:ahLst/>
            <a:cxnLst/>
            <a:rect r="r" b="b" t="t" l="l"/>
            <a:pathLst>
              <a:path h="2301443" w="2477092">
                <a:moveTo>
                  <a:pt x="0" y="0"/>
                </a:moveTo>
                <a:lnTo>
                  <a:pt x="2477092" y="0"/>
                </a:lnTo>
                <a:lnTo>
                  <a:pt x="2477092" y="2301443"/>
                </a:lnTo>
                <a:lnTo>
                  <a:pt x="0" y="2301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82606" y="8426678"/>
            <a:ext cx="3494310" cy="2533375"/>
          </a:xfrm>
          <a:custGeom>
            <a:avLst/>
            <a:gdLst/>
            <a:ahLst/>
            <a:cxnLst/>
            <a:rect r="r" b="b" t="t" l="l"/>
            <a:pathLst>
              <a:path h="2533375" w="3494310">
                <a:moveTo>
                  <a:pt x="0" y="0"/>
                </a:moveTo>
                <a:lnTo>
                  <a:pt x="3494310" y="0"/>
                </a:lnTo>
                <a:lnTo>
                  <a:pt x="3494310" y="2533375"/>
                </a:lnTo>
                <a:lnTo>
                  <a:pt x="0" y="2533375"/>
                </a:lnTo>
                <a:lnTo>
                  <a:pt x="0" y="0"/>
                </a:lnTo>
                <a:close/>
              </a:path>
            </a:pathLst>
          </a:custGeom>
          <a:blipFill>
            <a:blip r:embed="rId6"/>
            <a:stretch>
              <a:fillRect l="0" t="0" r="0" b="0"/>
            </a:stretch>
          </a:blipFill>
        </p:spPr>
      </p:sp>
      <p:sp>
        <p:nvSpPr>
          <p:cNvPr name="Freeform 6" id="6"/>
          <p:cNvSpPr/>
          <p:nvPr/>
        </p:nvSpPr>
        <p:spPr>
          <a:xfrm flipH="false" flipV="false" rot="0">
            <a:off x="625754" y="-297811"/>
            <a:ext cx="3041419" cy="2206411"/>
          </a:xfrm>
          <a:custGeom>
            <a:avLst/>
            <a:gdLst/>
            <a:ahLst/>
            <a:cxnLst/>
            <a:rect r="r" b="b" t="t" l="l"/>
            <a:pathLst>
              <a:path h="2206411" w="3041419">
                <a:moveTo>
                  <a:pt x="0" y="0"/>
                </a:moveTo>
                <a:lnTo>
                  <a:pt x="3041419" y="0"/>
                </a:lnTo>
                <a:lnTo>
                  <a:pt x="3041419" y="2206411"/>
                </a:lnTo>
                <a:lnTo>
                  <a:pt x="0" y="2206411"/>
                </a:lnTo>
                <a:lnTo>
                  <a:pt x="0" y="0"/>
                </a:lnTo>
                <a:close/>
              </a:path>
            </a:pathLst>
          </a:custGeom>
          <a:blipFill>
            <a:blip r:embed="rId7"/>
            <a:stretch>
              <a:fillRect l="0" t="0" r="0" b="0"/>
            </a:stretch>
          </a:blipFill>
        </p:spPr>
      </p:sp>
      <p:sp>
        <p:nvSpPr>
          <p:cNvPr name="Freeform 7" id="7"/>
          <p:cNvSpPr/>
          <p:nvPr/>
        </p:nvSpPr>
        <p:spPr>
          <a:xfrm flipH="false" flipV="false" rot="0">
            <a:off x="15447101" y="42263"/>
            <a:ext cx="2840899" cy="2833797"/>
          </a:xfrm>
          <a:custGeom>
            <a:avLst/>
            <a:gdLst/>
            <a:ahLst/>
            <a:cxnLst/>
            <a:rect r="r" b="b" t="t" l="l"/>
            <a:pathLst>
              <a:path h="2833797" w="2840899">
                <a:moveTo>
                  <a:pt x="0" y="0"/>
                </a:moveTo>
                <a:lnTo>
                  <a:pt x="2840899" y="0"/>
                </a:lnTo>
                <a:lnTo>
                  <a:pt x="2840899" y="2833797"/>
                </a:lnTo>
                <a:lnTo>
                  <a:pt x="0" y="2833797"/>
                </a:lnTo>
                <a:lnTo>
                  <a:pt x="0" y="0"/>
                </a:lnTo>
                <a:close/>
              </a:path>
            </a:pathLst>
          </a:custGeom>
          <a:blipFill>
            <a:blip r:embed="rId8"/>
            <a:stretch>
              <a:fillRect l="0" t="0" r="0" b="0"/>
            </a:stretch>
          </a:blipFill>
        </p:spPr>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A513F"/>
                </a:solidFill>
                <a:latin typeface="Canva Sans"/>
                <a:ea typeface="Canva Sans"/>
                <a:cs typeface="Canva Sans"/>
                <a:sym typeface="Canva Sans"/>
              </a:rPr>
              <a:t>10</a:t>
            </a:r>
          </a:p>
        </p:txBody>
      </p:sp>
      <p:sp>
        <p:nvSpPr>
          <p:cNvPr name="TextBox 9" id="9"/>
          <p:cNvSpPr txBox="true"/>
          <p:nvPr/>
        </p:nvSpPr>
        <p:spPr>
          <a:xfrm rot="0">
            <a:off x="489882" y="4023183"/>
            <a:ext cx="6145173" cy="1552724"/>
          </a:xfrm>
          <a:prstGeom prst="rect">
            <a:avLst/>
          </a:prstGeom>
        </p:spPr>
        <p:txBody>
          <a:bodyPr anchor="t" rtlCol="false" tIns="0" lIns="0" bIns="0" rIns="0">
            <a:spAutoFit/>
          </a:bodyPr>
          <a:lstStyle/>
          <a:p>
            <a:pPr algn="ctr">
              <a:lnSpc>
                <a:spcPts val="4191"/>
              </a:lnSpc>
            </a:pPr>
            <a:r>
              <a:rPr lang="en-US" sz="2994" b="true">
                <a:solidFill>
                  <a:srgbClr val="1A513F"/>
                </a:solidFill>
                <a:latin typeface="Canva Sans Bold"/>
                <a:ea typeface="Canva Sans Bold"/>
                <a:cs typeface="Canva Sans Bold"/>
                <a:sym typeface="Canva Sans Bold"/>
              </a:rPr>
              <a:t>Presented By:</a:t>
            </a:r>
          </a:p>
          <a:p>
            <a:pPr algn="ctr">
              <a:lnSpc>
                <a:spcPts val="4191"/>
              </a:lnSpc>
            </a:pPr>
            <a:r>
              <a:rPr lang="en-US" sz="2994" b="true">
                <a:solidFill>
                  <a:srgbClr val="1A513F"/>
                </a:solidFill>
                <a:latin typeface="Canva Sans Bold"/>
                <a:ea typeface="Canva Sans Bold"/>
                <a:cs typeface="Canva Sans Bold"/>
                <a:sym typeface="Canva Sans Bold"/>
              </a:rPr>
              <a:t>MD Iftiur Hossen Riyad(2404011)</a:t>
            </a:r>
          </a:p>
          <a:p>
            <a:pPr algn="ctr">
              <a:lnSpc>
                <a:spcPts val="4191"/>
              </a:lnSpc>
            </a:pPr>
            <a:r>
              <a:rPr lang="en-US" sz="2994" b="true">
                <a:solidFill>
                  <a:srgbClr val="1A513F"/>
                </a:solidFill>
                <a:latin typeface="Canva Sans Bold"/>
                <a:ea typeface="Canva Sans Bold"/>
                <a:cs typeface="Canva Sans Bold"/>
                <a:sym typeface="Canva Sans Bold"/>
              </a:rPr>
              <a:t>Momtasin Tamanna(2404012)</a:t>
            </a:r>
          </a:p>
        </p:txBody>
      </p:sp>
      <p:sp>
        <p:nvSpPr>
          <p:cNvPr name="TextBox 10" id="10"/>
          <p:cNvSpPr txBox="true"/>
          <p:nvPr/>
        </p:nvSpPr>
        <p:spPr>
          <a:xfrm rot="0">
            <a:off x="6943605" y="3371959"/>
            <a:ext cx="11344395" cy="5249088"/>
          </a:xfrm>
          <a:prstGeom prst="rect">
            <a:avLst/>
          </a:prstGeom>
        </p:spPr>
        <p:txBody>
          <a:bodyPr anchor="t" rtlCol="false" tIns="0" lIns="0" bIns="0" rIns="0">
            <a:spAutoFit/>
          </a:bodyPr>
          <a:lstStyle/>
          <a:p>
            <a:pPr algn="ctr">
              <a:lnSpc>
                <a:spcPts val="5205"/>
              </a:lnSpc>
            </a:pPr>
            <a:r>
              <a:rPr lang="en-US" sz="3717" b="true">
                <a:solidFill>
                  <a:srgbClr val="1A513F"/>
                </a:solidFill>
                <a:latin typeface="Canva Sans Bold"/>
                <a:ea typeface="Canva Sans Bold"/>
                <a:cs typeface="Canva Sans Bold"/>
                <a:sym typeface="Canva Sans Bold"/>
              </a:rPr>
              <a:t>And special thanks to our honourable</a:t>
            </a:r>
            <a:r>
              <a:rPr lang="en-US" sz="3717" b="true">
                <a:solidFill>
                  <a:srgbClr val="1A513F"/>
                </a:solidFill>
                <a:latin typeface="Canva Sans Bold"/>
                <a:ea typeface="Canva Sans Bold"/>
                <a:cs typeface="Canva Sans Bold"/>
                <a:sym typeface="Canva Sans Bold"/>
              </a:rPr>
              <a:t> </a:t>
            </a:r>
          </a:p>
          <a:p>
            <a:pPr algn="ctr">
              <a:lnSpc>
                <a:spcPts val="5205"/>
              </a:lnSpc>
            </a:pPr>
          </a:p>
          <a:p>
            <a:pPr algn="ctr">
              <a:lnSpc>
                <a:spcPts val="5205"/>
              </a:lnSpc>
            </a:pPr>
            <a:r>
              <a:rPr lang="en-US" sz="3717" b="true">
                <a:solidFill>
                  <a:srgbClr val="1A513F"/>
                </a:solidFill>
                <a:latin typeface="Canva Sans Bold"/>
                <a:ea typeface="Canva Sans Bold"/>
                <a:cs typeface="Canva Sans Bold"/>
                <a:sym typeface="Canva Sans Bold"/>
              </a:rPr>
              <a:t>Md Masud Rana</a:t>
            </a:r>
          </a:p>
          <a:p>
            <a:pPr algn="ctr">
              <a:lnSpc>
                <a:spcPts val="5205"/>
              </a:lnSpc>
            </a:pPr>
            <a:r>
              <a:rPr lang="en-US" sz="3717" b="true">
                <a:solidFill>
                  <a:srgbClr val="1A513F"/>
                </a:solidFill>
                <a:latin typeface="Canva Sans Bold"/>
                <a:ea typeface="Canva Sans Bold"/>
                <a:cs typeface="Canva Sans Bold"/>
                <a:sym typeface="Canva Sans Bold"/>
              </a:rPr>
              <a:t>Lecturer </a:t>
            </a:r>
          </a:p>
          <a:p>
            <a:pPr algn="ctr">
              <a:lnSpc>
                <a:spcPts val="5205"/>
              </a:lnSpc>
            </a:pPr>
            <a:r>
              <a:rPr lang="en-US" sz="3717" b="true">
                <a:solidFill>
                  <a:srgbClr val="1A513F"/>
                </a:solidFill>
                <a:latin typeface="Canva Sans Bold"/>
                <a:ea typeface="Canva Sans Bold"/>
                <a:cs typeface="Canva Sans Bold"/>
                <a:sym typeface="Canva Sans Bold"/>
              </a:rPr>
              <a:t>Department Of Cyber Security Engineering, UFTB</a:t>
            </a:r>
          </a:p>
          <a:p>
            <a:pPr algn="ctr">
              <a:lnSpc>
                <a:spcPts val="5205"/>
              </a:lnSpc>
            </a:pPr>
          </a:p>
          <a:p>
            <a:pPr algn="ctr">
              <a:lnSpc>
                <a:spcPts val="5205"/>
              </a:lnSpc>
            </a:pPr>
            <a:r>
              <a:rPr lang="en-US" sz="3717" b="true">
                <a:solidFill>
                  <a:srgbClr val="1A513F"/>
                </a:solidFill>
                <a:latin typeface="Canva Sans Bold"/>
                <a:ea typeface="Canva Sans Bold"/>
                <a:cs typeface="Canva Sans Bold"/>
                <a:sym typeface="Canva Sans Bold"/>
              </a:rPr>
              <a:t> for giving us the opportunity.</a:t>
            </a:r>
          </a:p>
          <a:p>
            <a:pPr algn="ctr">
              <a:lnSpc>
                <a:spcPts val="5205"/>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DAHM1Z_g2RU</dc:identifier>
  <dcterms:modified xsi:type="dcterms:W3CDTF">2011-08-01T06:04:30Z</dcterms:modified>
  <cp:revision>1</cp:revision>
  <dc:title>ThreatGuard : A Lightweight Intrusion Detection &amp; Secure Authentication System (C++)</dc:title>
</cp:coreProperties>
</file>